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3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7258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thiệu: module dành cho người đã biết Docker, Linux và AWS cơ bản.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Nêu đường đi: ECS trước, EKS sau, kết bằng so sánh và lộ trình.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Hai lựa chọn, cùng một mục tiêu. ECS đơn giản, EKS chuẩn mở.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Nhấn: Task của ECS tương ứng Pod của Kubernetes.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Chuyển phần: đi vào ECS.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Bản thiết kế, lần chạy, người trông coi, nơi chứa.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sánh với docker-compose để người học dễ hình dung.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Desired count = 3. Task chết thì ECS tạo Task mới.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Người mới nên bắt đầu bằng Fargate.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awsvpc là mặc định với Fargate và là lựa chọn khuyến nghị.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Ví dụ sàn thương mại điện tử: 4 Task ngày thường, 12 Task lúc cao điểm.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Rolling: đơn giản. Blue/Green: rollback tức thì, tốn tài nguyên gấp đôi.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chỗ người mới hay nhầm nhất.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Chuyển phần: sang Kubernetes.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Ranh giới trách nhiệm: control plane của AWS, node của bạn.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Thực tế chỉ viết Deployment; ReplicaSet và Pod do Kubernetes tạo.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ConfigMap cho cấu hình thường, Secret cho dữ liệu bí mật.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Hai tầng autoscaling luôn đi cùng nhau: Pod và 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Ví dụ cụ thể: merge vào main, build app:1.4.2, đẩy ECR, cập nhật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Bảng này là câu trả lời cho câu hỏi nên chọn cái nào.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Bắt đầu từ ECS, kết thúc ở EKS. Mỗi bước nên có một bài lab nhỏ.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Kết: chọn theo đội ngũ và mục tiêu, không chọn theo trào lưu.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A2F66">
                  <a:alpha val="100000"/>
                </a:srgbClr>
              </a:gs>
              <a:gs pos="62000">
                <a:srgbClr val="161826">
                  <a:alpha val="100000"/>
                </a:srgbClr>
              </a:gs>
            </a:gsLst>
            <a:path path="circle">
              <a:fillToRect l="78000" r="22000" b="100000"/>
            </a:path>
          </a:gradFill>
          <a:ln/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952500" y="2434679"/>
            <a:ext cx="180213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b="1" kern="0" spc="42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CONTAINER ORCHESTRATION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3343349"/>
            <a:ext cx="18021300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381"/>
              </a:lnSpc>
              <a:buNone/>
            </a:pPr>
            <a:r>
              <a:rPr lang="en-US" sz="7800" kern="0" spc="-234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ECS &amp; EKS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952500" y="4650135"/>
            <a:ext cx="18021300" cy="68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725"/>
              </a:lnSpc>
              <a:buNone/>
            </a:pPr>
            <a:r>
              <a:rPr lang="en-US" sz="3300" dirty="0">
                <a:solidFill>
                  <a:srgbClr val="B5A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học cho người mới bắt đầu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5490195"/>
            <a:ext cx="180213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8D8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beginner's module on container orchestration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52500" y="6589365"/>
            <a:ext cx="3048000" cy="19050"/>
          </a:xfrm>
          <a:prstGeom prst="rect">
            <a:avLst/>
          </a:prstGeom>
          <a:gradFill rotWithShape="1">
            <a:gsLst>
              <a:gs pos="0">
                <a:srgbClr val="9184D9">
                  <a:alpha val="100000"/>
                </a:srgbClr>
              </a:gs>
              <a:gs pos="100000">
                <a:srgbClr val="9184D9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VN"/>
          </a:p>
        </p:txBody>
      </p:sp>
      <p:sp>
        <p:nvSpPr>
          <p:cNvPr id="8" name="Text 6"/>
          <p:cNvSpPr/>
          <p:nvPr/>
        </p:nvSpPr>
        <p:spPr>
          <a:xfrm>
            <a:off x="952500" y="6989415"/>
            <a:ext cx="180213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Yên Nguyễn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52500" y="7498035"/>
            <a:ext cx="1802130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dirty="0">
                <a:solidFill>
                  <a:srgbClr val="7E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Yên Nguyễn All Rights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720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490"/>
              </a:lnSpc>
              <a:buNone/>
            </a:pPr>
            <a:r>
              <a:rPr lang="en-US" sz="4800" kern="0" spc="-96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Nội dung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1749549"/>
            <a:ext cx="180213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8D8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3464942"/>
            <a:ext cx="7848600" cy="9525"/>
          </a:xfrm>
          <a:prstGeom prst="rect">
            <a:avLst/>
          </a:prstGeom>
          <a:solidFill>
            <a:srgbClr val="E9E9ED">
              <a:alpha val="12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5" name="Text 3"/>
          <p:cNvSpPr/>
          <p:nvPr/>
        </p:nvSpPr>
        <p:spPr>
          <a:xfrm>
            <a:off x="952500" y="2839194"/>
            <a:ext cx="405929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548929" y="2772519"/>
            <a:ext cx="3073018" cy="54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28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Bức tranh tổng quan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486900" y="3464942"/>
            <a:ext cx="7848600" cy="9525"/>
          </a:xfrm>
          <a:prstGeom prst="rect">
            <a:avLst/>
          </a:prstGeom>
          <a:solidFill>
            <a:srgbClr val="E9E9ED">
              <a:alpha val="12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8" name="Text 6"/>
          <p:cNvSpPr/>
          <p:nvPr/>
        </p:nvSpPr>
        <p:spPr>
          <a:xfrm>
            <a:off x="9486900" y="2839194"/>
            <a:ext cx="405929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083329" y="2772519"/>
            <a:ext cx="4693265" cy="54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28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Deployment, Storage, IAM Role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52500" y="4433590"/>
            <a:ext cx="7848600" cy="9525"/>
          </a:xfrm>
          <a:prstGeom prst="rect">
            <a:avLst/>
          </a:prstGeom>
          <a:solidFill>
            <a:srgbClr val="E9E9ED">
              <a:alpha val="12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1" name="Text 9"/>
          <p:cNvSpPr/>
          <p:nvPr/>
        </p:nvSpPr>
        <p:spPr>
          <a:xfrm>
            <a:off x="952500" y="3807842"/>
            <a:ext cx="405929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548929" y="3741167"/>
            <a:ext cx="3532391" cy="54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28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ECS — bốn khối cơ bản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486900" y="4433590"/>
            <a:ext cx="7848600" cy="9525"/>
          </a:xfrm>
          <a:prstGeom prst="rect">
            <a:avLst/>
          </a:prstGeom>
          <a:solidFill>
            <a:srgbClr val="E9E9ED">
              <a:alpha val="12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4" name="Text 12"/>
          <p:cNvSpPr/>
          <p:nvPr/>
        </p:nvSpPr>
        <p:spPr>
          <a:xfrm>
            <a:off x="9486900" y="3807842"/>
            <a:ext cx="405929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0083329" y="3741167"/>
            <a:ext cx="4227917" cy="54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28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 — kiến trúc Kubernetes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52500" y="5402238"/>
            <a:ext cx="7848600" cy="9525"/>
          </a:xfrm>
          <a:prstGeom prst="rect">
            <a:avLst/>
          </a:prstGeom>
          <a:solidFill>
            <a:srgbClr val="E9E9ED">
              <a:alpha val="12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7" name="Text 15"/>
          <p:cNvSpPr/>
          <p:nvPr/>
        </p:nvSpPr>
        <p:spPr>
          <a:xfrm>
            <a:off x="952500" y="4776490"/>
            <a:ext cx="405929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548929" y="4709815"/>
            <a:ext cx="4412010" cy="54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28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Type: EC2 và Fargate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486900" y="5402238"/>
            <a:ext cx="7848600" cy="9525"/>
          </a:xfrm>
          <a:prstGeom prst="rect">
            <a:avLst/>
          </a:prstGeom>
          <a:solidFill>
            <a:srgbClr val="E9E9ED">
              <a:alpha val="12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0" name="Text 18"/>
          <p:cNvSpPr/>
          <p:nvPr/>
        </p:nvSpPr>
        <p:spPr>
          <a:xfrm>
            <a:off x="9486900" y="4776490"/>
            <a:ext cx="405929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0083329" y="4709815"/>
            <a:ext cx="3045760" cy="54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28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vựng Kubernetes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952500" y="6370886"/>
            <a:ext cx="7848600" cy="9525"/>
          </a:xfrm>
          <a:prstGeom prst="rect">
            <a:avLst/>
          </a:prstGeom>
          <a:solidFill>
            <a:srgbClr val="E9E9ED">
              <a:alpha val="12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3" name="Text 21"/>
          <p:cNvSpPr/>
          <p:nvPr/>
        </p:nvSpPr>
        <p:spPr>
          <a:xfrm>
            <a:off x="952500" y="5745138"/>
            <a:ext cx="405929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548929" y="5678463"/>
            <a:ext cx="4192719" cy="54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28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 và Auto Scaling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9486900" y="6370886"/>
            <a:ext cx="7848600" cy="9525"/>
          </a:xfrm>
          <a:prstGeom prst="rect">
            <a:avLst/>
          </a:prstGeom>
          <a:solidFill>
            <a:srgbClr val="E9E9ED">
              <a:alpha val="12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6" name="Text 24"/>
          <p:cNvSpPr/>
          <p:nvPr/>
        </p:nvSpPr>
        <p:spPr>
          <a:xfrm>
            <a:off x="9486900" y="5745138"/>
            <a:ext cx="405929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0083329" y="5678463"/>
            <a:ext cx="3127124" cy="54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28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và lộ trình học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720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490"/>
              </a:lnSpc>
              <a:buNone/>
            </a:pPr>
            <a:r>
              <a:rPr lang="en-US" sz="4800" kern="0" spc="-96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Hai dịch vụ orchestration trên AWS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1749549"/>
            <a:ext cx="180213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8D8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orchestrators, one job: run containers reliably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2696319"/>
            <a:ext cx="8001000" cy="4321299"/>
          </a:xfrm>
          <a:prstGeom prst="roundRect">
            <a:avLst>
              <a:gd name="adj" fmla="val 3527"/>
            </a:avLst>
          </a:prstGeom>
          <a:gradFill rotWithShape="1">
            <a:gsLst>
              <a:gs pos="0">
                <a:srgbClr val="423A6A">
                  <a:alpha val="55000"/>
                </a:srgbClr>
              </a:gs>
              <a:gs pos="100000">
                <a:srgbClr val="232532">
                  <a:alpha val="85000"/>
                </a:srgbClr>
              </a:gs>
            </a:gsLst>
            <a:lin ang="4200000" scaled="0"/>
          </a:gradFill>
          <a:ln w="9525">
            <a:solidFill>
              <a:srgbClr val="9184D9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Text 3"/>
          <p:cNvSpPr/>
          <p:nvPr/>
        </p:nvSpPr>
        <p:spPr>
          <a:xfrm>
            <a:off x="1381125" y="3163044"/>
            <a:ext cx="7858125" cy="68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725"/>
              </a:lnSpc>
              <a:buNone/>
            </a:pPr>
            <a:r>
              <a:rPr lang="en-US" sz="3300" dirty="0">
                <a:solidFill>
                  <a:srgbClr val="E7E5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ECS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381125" y="3945954"/>
            <a:ext cx="785812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B5AB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AWS phát triển — dễ bắt đầu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81125" y="4702225"/>
            <a:ext cx="7858125" cy="54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28"/>
              </a:lnSpc>
              <a:buNone/>
            </a:pPr>
            <a:r>
              <a:rPr lang="en-US" sz="2550" dirty="0">
                <a:solidFill>
                  <a:srgbClr val="C3C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Ít khái niệm, học trong vài ngày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381125" y="5375597"/>
            <a:ext cx="7858125" cy="54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28"/>
              </a:lnSpc>
              <a:buNone/>
            </a:pPr>
            <a:r>
              <a:rPr lang="en-US" sz="2550" dirty="0">
                <a:solidFill>
                  <a:srgbClr val="C3C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hợp sâu ALB, IAM, CloudWatch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381125" y="6048970"/>
            <a:ext cx="7858125" cy="54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28"/>
              </a:lnSpc>
              <a:buNone/>
            </a:pPr>
            <a:r>
              <a:rPr lang="en-US" sz="2550" dirty="0">
                <a:solidFill>
                  <a:srgbClr val="C3C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Gần như không phải quản trị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334500" y="2696319"/>
            <a:ext cx="8001000" cy="4321299"/>
          </a:xfrm>
          <a:prstGeom prst="roundRect">
            <a:avLst>
              <a:gd name="adj" fmla="val 3527"/>
            </a:avLst>
          </a:prstGeom>
          <a:gradFill rotWithShape="1">
            <a:gsLst>
              <a:gs pos="0">
                <a:srgbClr val="262A60">
                  <a:alpha val="70000"/>
                </a:srgbClr>
              </a:gs>
              <a:gs pos="100000">
                <a:srgbClr val="232532">
                  <a:alpha val="85000"/>
                </a:srgbClr>
              </a:gs>
            </a:gsLst>
            <a:lin ang="4200000" scaled="0"/>
          </a:gradFill>
          <a:ln w="9525">
            <a:solidFill>
              <a:srgbClr val="4C539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Text 9"/>
          <p:cNvSpPr/>
          <p:nvPr/>
        </p:nvSpPr>
        <p:spPr>
          <a:xfrm>
            <a:off x="9763125" y="3163044"/>
            <a:ext cx="7858125" cy="68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725"/>
              </a:lnSpc>
              <a:buNone/>
            </a:pPr>
            <a:r>
              <a:rPr lang="en-US" sz="3300" dirty="0">
                <a:solidFill>
                  <a:srgbClr val="E7E5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EKS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9763125" y="3945954"/>
            <a:ext cx="785812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B5A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do AWS quản lý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763125" y="4702225"/>
            <a:ext cx="7858125" cy="54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28"/>
              </a:lnSpc>
              <a:buNone/>
            </a:pPr>
            <a:r>
              <a:rPr lang="en-US" sz="2550" dirty="0">
                <a:solidFill>
                  <a:srgbClr val="C3C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chuẩn, kỹ năng dùng lại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763125" y="5375597"/>
            <a:ext cx="7858125" cy="54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28"/>
              </a:lnSpc>
              <a:buNone/>
            </a:pPr>
            <a:r>
              <a:rPr lang="en-US" sz="2550" dirty="0">
                <a:solidFill>
                  <a:srgbClr val="C3C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được đa cloud, on-premise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763125" y="6048970"/>
            <a:ext cx="7858125" cy="54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28"/>
              </a:lnSpc>
              <a:buNone/>
            </a:pPr>
            <a:r>
              <a:rPr lang="en-US" sz="2550" dirty="0">
                <a:solidFill>
                  <a:srgbClr val="C3C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 hoạt cao, nhiều việc hơn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720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490"/>
              </a:lnSpc>
              <a:buNone/>
            </a:pPr>
            <a:r>
              <a:rPr lang="en-US" sz="4800" kern="0" spc="-96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Đường đi của một request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1749549"/>
            <a:ext cx="180213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8D8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user to the container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8221851" y="2620119"/>
            <a:ext cx="1791668" cy="863873"/>
          </a:xfrm>
          <a:prstGeom prst="roundRect">
            <a:avLst>
              <a:gd name="adj" fmla="val 11026"/>
            </a:avLst>
          </a:prstGeom>
          <a:solidFill>
            <a:srgbClr val="9184D9">
              <a:alpha val="20000"/>
            </a:srgbClr>
          </a:solidFill>
          <a:ln w="9525">
            <a:solidFill>
              <a:srgbClr val="9184D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Text 3"/>
          <p:cNvSpPr/>
          <p:nvPr/>
        </p:nvSpPr>
        <p:spPr>
          <a:xfrm>
            <a:off x="8740005" y="2801094"/>
            <a:ext cx="1070421" cy="54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28"/>
              </a:lnSpc>
              <a:buNone/>
            </a:pPr>
            <a:r>
              <a:rPr lang="en-US" sz="2550" dirty="0">
                <a:solidFill>
                  <a:srgbClr val="E7E5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34475" y="3483992"/>
            <a:ext cx="19050" cy="323850"/>
          </a:xfrm>
          <a:prstGeom prst="rect">
            <a:avLst/>
          </a:prstGeom>
          <a:gradFill rotWithShape="1">
            <a:gsLst>
              <a:gs pos="0">
                <a:srgbClr val="5D5294">
                  <a:alpha val="100000"/>
                </a:srgbClr>
              </a:gs>
              <a:gs pos="100000">
                <a:srgbClr val="9184D9">
                  <a:alpha val="10000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VN"/>
          </a:p>
        </p:txBody>
      </p:sp>
      <p:sp>
        <p:nvSpPr>
          <p:cNvPr id="7" name="Shape 5"/>
          <p:cNvSpPr/>
          <p:nvPr/>
        </p:nvSpPr>
        <p:spPr>
          <a:xfrm>
            <a:off x="6945437" y="3807842"/>
            <a:ext cx="4397127" cy="863873"/>
          </a:xfrm>
          <a:prstGeom prst="roundRect">
            <a:avLst>
              <a:gd name="adj" fmla="val 11026"/>
            </a:avLst>
          </a:prstGeom>
          <a:solidFill>
            <a:srgbClr val="9184D9">
              <a:alpha val="12000"/>
            </a:srgbClr>
          </a:solidFill>
          <a:ln w="9525">
            <a:solidFill>
              <a:srgbClr val="9184D9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Text 6"/>
          <p:cNvSpPr/>
          <p:nvPr/>
        </p:nvSpPr>
        <p:spPr>
          <a:xfrm>
            <a:off x="7335962" y="3988817"/>
            <a:ext cx="4397127" cy="54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28"/>
              </a:lnSpc>
              <a:buNone/>
            </a:pPr>
            <a:r>
              <a:rPr lang="en-US" sz="25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Load Balancer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34475" y="4671715"/>
            <a:ext cx="19050" cy="285750"/>
          </a:xfrm>
          <a:prstGeom prst="rect">
            <a:avLst/>
          </a:prstGeom>
          <a:solidFill>
            <a:srgbClr val="5D5294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0" name="Shape 8"/>
          <p:cNvSpPr/>
          <p:nvPr/>
        </p:nvSpPr>
        <p:spPr>
          <a:xfrm>
            <a:off x="4065240" y="4957465"/>
            <a:ext cx="10157445" cy="19050"/>
          </a:xfrm>
          <a:prstGeom prst="rect">
            <a:avLst/>
          </a:prstGeom>
          <a:gradFill rotWithShape="1">
            <a:gsLst>
              <a:gs pos="0">
                <a:srgbClr val="5D5294">
                  <a:alpha val="0"/>
                </a:srgbClr>
              </a:gs>
              <a:gs pos="14000">
                <a:srgbClr val="5D5294">
                  <a:alpha val="100000"/>
                </a:srgbClr>
              </a:gs>
              <a:gs pos="86000">
                <a:srgbClr val="5D5294">
                  <a:alpha val="100000"/>
                </a:srgbClr>
              </a:gs>
              <a:gs pos="100000">
                <a:srgbClr val="5D5294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VN"/>
          </a:p>
        </p:txBody>
      </p:sp>
      <p:sp>
        <p:nvSpPr>
          <p:cNvPr id="11" name="Shape 9"/>
          <p:cNvSpPr/>
          <p:nvPr/>
        </p:nvSpPr>
        <p:spPr>
          <a:xfrm>
            <a:off x="952500" y="5224165"/>
            <a:ext cx="7943850" cy="4313858"/>
          </a:xfrm>
          <a:prstGeom prst="roundRect">
            <a:avLst>
              <a:gd name="adj" fmla="val 3533"/>
            </a:avLst>
          </a:prstGeom>
          <a:gradFill rotWithShape="1">
            <a:gsLst>
              <a:gs pos="0">
                <a:srgbClr val="423A6A">
                  <a:alpha val="42000"/>
                </a:srgbClr>
              </a:gs>
              <a:gs pos="100000">
                <a:srgbClr val="423A6A">
                  <a:alpha val="0"/>
                </a:srgbClr>
              </a:gs>
            </a:gsLst>
            <a:lin ang="5400000" scaled="0"/>
          </a:gradFill>
          <a:ln w="9525">
            <a:solidFill>
              <a:srgbClr val="9184D9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Text 10"/>
          <p:cNvSpPr/>
          <p:nvPr/>
        </p:nvSpPr>
        <p:spPr>
          <a:xfrm>
            <a:off x="4626694" y="5557540"/>
            <a:ext cx="906201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kern="0" spc="252" dirty="0">
                <a:solidFill>
                  <a:srgbClr val="B5AB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ECS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3917752" y="6104260"/>
            <a:ext cx="2013272" cy="709613"/>
          </a:xfrm>
          <a:prstGeom prst="roundRect">
            <a:avLst>
              <a:gd name="adj" fmla="val 12081"/>
            </a:avLst>
          </a:prstGeom>
          <a:solidFill>
            <a:srgbClr val="9184D9">
              <a:alpha val="16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4" name="Text 12"/>
          <p:cNvSpPr/>
          <p:nvPr/>
        </p:nvSpPr>
        <p:spPr>
          <a:xfrm>
            <a:off x="4463512" y="6237610"/>
            <a:ext cx="1296062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ECS Service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4914900" y="6947222"/>
            <a:ext cx="19050" cy="190500"/>
          </a:xfrm>
          <a:prstGeom prst="rect">
            <a:avLst/>
          </a:prstGeom>
          <a:solidFill>
            <a:srgbClr val="5D5294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6" name="Shape 14"/>
          <p:cNvSpPr/>
          <p:nvPr/>
        </p:nvSpPr>
        <p:spPr>
          <a:xfrm>
            <a:off x="4033391" y="7271072"/>
            <a:ext cx="1782068" cy="709613"/>
          </a:xfrm>
          <a:prstGeom prst="roundRect">
            <a:avLst>
              <a:gd name="adj" fmla="val 12081"/>
            </a:avLst>
          </a:prstGeom>
          <a:solidFill>
            <a:srgbClr val="9184D9">
              <a:alpha val="16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7" name="Text 15"/>
          <p:cNvSpPr/>
          <p:nvPr/>
        </p:nvSpPr>
        <p:spPr>
          <a:xfrm>
            <a:off x="4281040" y="7404422"/>
            <a:ext cx="178206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ECS Tasks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4914900" y="8114035"/>
            <a:ext cx="19050" cy="190500"/>
          </a:xfrm>
          <a:prstGeom prst="rect">
            <a:avLst/>
          </a:prstGeom>
          <a:solidFill>
            <a:srgbClr val="5D5294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9" name="Shape 17"/>
          <p:cNvSpPr/>
          <p:nvPr/>
        </p:nvSpPr>
        <p:spPr>
          <a:xfrm>
            <a:off x="3839394" y="8437885"/>
            <a:ext cx="2169988" cy="728663"/>
          </a:xfrm>
          <a:prstGeom prst="roundRect">
            <a:avLst>
              <a:gd name="adj" fmla="val 11765"/>
            </a:avLst>
          </a:prstGeom>
          <a:ln w="9525">
            <a:solidFill>
              <a:srgbClr val="9184D9">
                <a:alpha val="55000"/>
              </a:srgbClr>
            </a:solidFill>
            <a:prstDash val="dash"/>
          </a:ln>
        </p:spPr>
        <p:txBody>
          <a:bodyPr/>
          <a:lstStyle/>
          <a:p>
            <a:endParaRPr lang="en-VN"/>
          </a:p>
        </p:txBody>
      </p:sp>
      <p:sp>
        <p:nvSpPr>
          <p:cNvPr id="20" name="Text 18"/>
          <p:cNvSpPr/>
          <p:nvPr/>
        </p:nvSpPr>
        <p:spPr>
          <a:xfrm>
            <a:off x="4096568" y="8580760"/>
            <a:ext cx="1912813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EC2 / Fargate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391650" y="5224165"/>
            <a:ext cx="7943850" cy="4313858"/>
          </a:xfrm>
          <a:prstGeom prst="roundRect">
            <a:avLst>
              <a:gd name="adj" fmla="val 3533"/>
            </a:avLst>
          </a:prstGeom>
          <a:gradFill rotWithShape="1">
            <a:gsLst>
              <a:gs pos="0">
                <a:srgbClr val="262A60">
                  <a:alpha val="58000"/>
                </a:srgbClr>
              </a:gs>
              <a:gs pos="100000">
                <a:srgbClr val="262A60">
                  <a:alpha val="0"/>
                </a:srgbClr>
              </a:gs>
            </a:gsLst>
            <a:lin ang="5400000" scaled="0"/>
          </a:gradFill>
          <a:ln w="9525">
            <a:solidFill>
              <a:srgbClr val="4C539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Text 20"/>
          <p:cNvSpPr/>
          <p:nvPr/>
        </p:nvSpPr>
        <p:spPr>
          <a:xfrm>
            <a:off x="13077230" y="5557540"/>
            <a:ext cx="84199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kern="0" spc="252" dirty="0">
                <a:solidFill>
                  <a:srgbClr val="B5A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1918975" y="6104260"/>
            <a:ext cx="2889200" cy="709613"/>
          </a:xfrm>
          <a:prstGeom prst="roundRect">
            <a:avLst>
              <a:gd name="adj" fmla="val 12081"/>
            </a:avLst>
          </a:prstGeom>
          <a:solidFill>
            <a:srgbClr val="4C5397">
              <a:alpha val="26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4" name="Text 22"/>
          <p:cNvSpPr/>
          <p:nvPr/>
        </p:nvSpPr>
        <p:spPr>
          <a:xfrm>
            <a:off x="12166625" y="6237610"/>
            <a:ext cx="26415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Service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13354050" y="6947222"/>
            <a:ext cx="19050" cy="190500"/>
          </a:xfrm>
          <a:prstGeom prst="rect">
            <a:avLst/>
          </a:prstGeom>
          <a:solidFill>
            <a:srgbClr val="5C5783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6" name="Shape 24"/>
          <p:cNvSpPr/>
          <p:nvPr/>
        </p:nvSpPr>
        <p:spPr>
          <a:xfrm>
            <a:off x="12807851" y="7271072"/>
            <a:ext cx="1111374" cy="709613"/>
          </a:xfrm>
          <a:prstGeom prst="roundRect">
            <a:avLst>
              <a:gd name="adj" fmla="val 12081"/>
            </a:avLst>
          </a:prstGeom>
          <a:solidFill>
            <a:srgbClr val="4C5397">
              <a:alpha val="26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7" name="Text 25"/>
          <p:cNvSpPr/>
          <p:nvPr/>
        </p:nvSpPr>
        <p:spPr>
          <a:xfrm>
            <a:off x="13055500" y="7404422"/>
            <a:ext cx="951459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13354050" y="8114035"/>
            <a:ext cx="19050" cy="190500"/>
          </a:xfrm>
          <a:prstGeom prst="rect">
            <a:avLst/>
          </a:prstGeom>
          <a:solidFill>
            <a:srgbClr val="5C5783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9" name="Shape 27"/>
          <p:cNvSpPr/>
          <p:nvPr/>
        </p:nvSpPr>
        <p:spPr>
          <a:xfrm>
            <a:off x="12278544" y="8437885"/>
            <a:ext cx="2169988" cy="728663"/>
          </a:xfrm>
          <a:prstGeom prst="roundRect">
            <a:avLst>
              <a:gd name="adj" fmla="val 11765"/>
            </a:avLst>
          </a:prstGeom>
          <a:ln w="9525">
            <a:solidFill>
              <a:srgbClr val="4C5397">
                <a:alpha val="65000"/>
              </a:srgbClr>
            </a:solidFill>
            <a:prstDash val="dash"/>
          </a:ln>
        </p:spPr>
        <p:txBody>
          <a:bodyPr/>
          <a:lstStyle/>
          <a:p>
            <a:endParaRPr lang="en-VN"/>
          </a:p>
        </p:txBody>
      </p:sp>
      <p:sp>
        <p:nvSpPr>
          <p:cNvPr id="30" name="Text 28"/>
          <p:cNvSpPr/>
          <p:nvPr/>
        </p:nvSpPr>
        <p:spPr>
          <a:xfrm>
            <a:off x="12535718" y="8580760"/>
            <a:ext cx="1912813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EC2 / Fargate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62A60">
                  <a:alpha val="100000"/>
                </a:srgbClr>
              </a:gs>
              <a:gs pos="55000">
                <a:srgbClr val="353B80">
                  <a:alpha val="100000"/>
                </a:srgbClr>
              </a:gs>
              <a:gs pos="100000">
                <a:srgbClr val="262A60">
                  <a:alpha val="100000"/>
                </a:srgbClr>
              </a:gs>
            </a:gsLst>
            <a:lin ang="3600000" scaled="0"/>
          </a:gradFill>
          <a:ln/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952500" y="3828306"/>
            <a:ext cx="180213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kern="0" spc="420" dirty="0">
                <a:solidFill>
                  <a:srgbClr val="B5A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1 / PART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4622676"/>
            <a:ext cx="18021300" cy="976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545"/>
              </a:lnSpc>
              <a:buNone/>
            </a:pPr>
            <a:r>
              <a:rPr lang="en-US" sz="6600" kern="0" spc="-165" dirty="0">
                <a:solidFill>
                  <a:srgbClr val="F5F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 ECS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52500" y="5809059"/>
            <a:ext cx="18021300" cy="68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725"/>
              </a:lnSpc>
              <a:buNone/>
            </a:pPr>
            <a:r>
              <a:rPr lang="en-US" sz="33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Cluster, Task Definition, Task, Service</a:t>
            </a:r>
            <a:endParaRPr lang="en-US" sz="3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720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490"/>
              </a:lnSpc>
              <a:buNone/>
            </a:pPr>
            <a:r>
              <a:rPr lang="en-US" sz="4800" kern="0" spc="-96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ECS — bốn khối cơ bản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1749549"/>
            <a:ext cx="180213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8D8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building blocks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2696319"/>
            <a:ext cx="3895725" cy="3604171"/>
          </a:xfrm>
          <a:prstGeom prst="roundRect">
            <a:avLst>
              <a:gd name="adj" fmla="val 3700"/>
            </a:avLst>
          </a:prstGeom>
          <a:solidFill>
            <a:srgbClr val="232532">
              <a:alpha val="70000"/>
            </a:srgbClr>
          </a:solidFill>
          <a:ln w="9525">
            <a:solidFill>
              <a:srgbClr val="E9E9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Shape 3"/>
          <p:cNvSpPr/>
          <p:nvPr/>
        </p:nvSpPr>
        <p:spPr>
          <a:xfrm>
            <a:off x="1266825" y="3086844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9184D9">
              <a:alpha val="22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6" name="Text 4"/>
          <p:cNvSpPr/>
          <p:nvPr/>
        </p:nvSpPr>
        <p:spPr>
          <a:xfrm>
            <a:off x="1228725" y="3086844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3538"/>
              </a:lnSpc>
              <a:buNone/>
            </a:pPr>
            <a:r>
              <a:rPr lang="en-US" sz="21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66825" y="3867894"/>
            <a:ext cx="359378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30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66825" y="4629894"/>
            <a:ext cx="3365087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846"/>
              </a:lnSpc>
              <a:buNone/>
            </a:pPr>
            <a:r>
              <a:rPr lang="en-US" sz="210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Thùng logic chứa Service và Task. Tách theo môi trường.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114925" y="2696319"/>
            <a:ext cx="3895725" cy="3604171"/>
          </a:xfrm>
          <a:prstGeom prst="roundRect">
            <a:avLst>
              <a:gd name="adj" fmla="val 3700"/>
            </a:avLst>
          </a:prstGeom>
          <a:solidFill>
            <a:srgbClr val="232532">
              <a:alpha val="70000"/>
            </a:srgbClr>
          </a:solidFill>
          <a:ln w="9525">
            <a:solidFill>
              <a:srgbClr val="E9E9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8"/>
          <p:cNvSpPr/>
          <p:nvPr/>
        </p:nvSpPr>
        <p:spPr>
          <a:xfrm>
            <a:off x="5429250" y="3086844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9184D9">
              <a:alpha val="22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1" name="Text 9"/>
          <p:cNvSpPr/>
          <p:nvPr/>
        </p:nvSpPr>
        <p:spPr>
          <a:xfrm>
            <a:off x="5391150" y="3086844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3538"/>
              </a:lnSpc>
              <a:buNone/>
            </a:pPr>
            <a:r>
              <a:rPr lang="en-US" sz="21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429250" y="3867894"/>
            <a:ext cx="359378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30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Definition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429250" y="4629894"/>
            <a:ext cx="3365087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846"/>
              </a:lnSpc>
              <a:buNone/>
            </a:pPr>
            <a:r>
              <a:rPr lang="en-US" sz="210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thiết kế container: image, CPU, RAM, port, env, role.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277350" y="2696319"/>
            <a:ext cx="3895725" cy="3604171"/>
          </a:xfrm>
          <a:prstGeom prst="roundRect">
            <a:avLst>
              <a:gd name="adj" fmla="val 3700"/>
            </a:avLst>
          </a:prstGeom>
          <a:solidFill>
            <a:srgbClr val="232532">
              <a:alpha val="70000"/>
            </a:srgbClr>
          </a:solidFill>
          <a:ln w="9525">
            <a:solidFill>
              <a:srgbClr val="E9E9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Shape 13"/>
          <p:cNvSpPr/>
          <p:nvPr/>
        </p:nvSpPr>
        <p:spPr>
          <a:xfrm>
            <a:off x="9591675" y="3086844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9184D9">
              <a:alpha val="22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6" name="Text 14"/>
          <p:cNvSpPr/>
          <p:nvPr/>
        </p:nvSpPr>
        <p:spPr>
          <a:xfrm>
            <a:off x="9553575" y="3086844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3538"/>
              </a:lnSpc>
              <a:buNone/>
            </a:pPr>
            <a:r>
              <a:rPr lang="en-US" sz="21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591675" y="3867894"/>
            <a:ext cx="359378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30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591675" y="4629894"/>
            <a:ext cx="3365087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846"/>
              </a:lnSpc>
              <a:buNone/>
            </a:pPr>
            <a:r>
              <a:rPr lang="en-US" sz="210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lần chạy thực tế của Task Definition.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3439775" y="2696319"/>
            <a:ext cx="3895725" cy="3604171"/>
          </a:xfrm>
          <a:prstGeom prst="roundRect">
            <a:avLst>
              <a:gd name="adj" fmla="val 3700"/>
            </a:avLst>
          </a:prstGeom>
          <a:gradFill rotWithShape="1">
            <a:gsLst>
              <a:gs pos="0">
                <a:srgbClr val="423A6A">
                  <a:alpha val="60000"/>
                </a:srgbClr>
              </a:gs>
              <a:gs pos="100000">
                <a:srgbClr val="232532">
                  <a:alpha val="85000"/>
                </a:srgbClr>
              </a:gs>
            </a:gsLst>
            <a:lin ang="4200000" scaled="0"/>
          </a:gradFill>
          <a:ln w="9525">
            <a:solidFill>
              <a:srgbClr val="9184D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0" name="Shape 18"/>
          <p:cNvSpPr/>
          <p:nvPr/>
        </p:nvSpPr>
        <p:spPr>
          <a:xfrm>
            <a:off x="13754100" y="3086844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9184D9">
              <a:alpha val="3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1" name="Text 19"/>
          <p:cNvSpPr/>
          <p:nvPr/>
        </p:nvSpPr>
        <p:spPr>
          <a:xfrm>
            <a:off x="13716000" y="3086844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3538"/>
              </a:lnSpc>
              <a:buNone/>
            </a:pPr>
            <a:r>
              <a:rPr lang="en-US" sz="2100" dirty="0">
                <a:solidFill>
                  <a:srgbClr val="F5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3754100" y="3867894"/>
            <a:ext cx="359378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30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3754100" y="4629894"/>
            <a:ext cx="3365087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846"/>
              </a:lnSpc>
              <a:buNone/>
            </a:pPr>
            <a:r>
              <a:rPr lang="en-US" sz="2100" dirty="0">
                <a:solidFill>
                  <a:srgbClr val="C3C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 đúng số Task mong muốn, tự thay Task chết.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082900"/>
            <a:ext cx="8633460" cy="720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490"/>
              </a:lnSpc>
              <a:buNone/>
            </a:pPr>
            <a:r>
              <a:rPr lang="en-US" sz="4800" kern="0" spc="-96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Definition — ví dụ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3879949"/>
            <a:ext cx="863346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8D8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blueprint, in JSON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4674319"/>
            <a:ext cx="8084058" cy="107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9487"/>
              </a:lnSpc>
              <a:buNone/>
            </a:pPr>
            <a:r>
              <a:rPr lang="en-US" sz="25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Giống docker-compose.yml nhưng theo định dạng của AWS: khai báo một lần, chạy được nhiều Task.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6053510"/>
            <a:ext cx="1090240" cy="603870"/>
          </a:xfrm>
          <a:prstGeom prst="roundRect">
            <a:avLst>
              <a:gd name="adj" fmla="val 12619"/>
            </a:avLst>
          </a:prstGeom>
          <a:solidFill>
            <a:srgbClr val="9184D9">
              <a:alpha val="16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6" name="Text 4"/>
          <p:cNvSpPr/>
          <p:nvPr/>
        </p:nvSpPr>
        <p:spPr>
          <a:xfrm>
            <a:off x="1142999" y="6148760"/>
            <a:ext cx="899739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2176090" y="6053510"/>
            <a:ext cx="914698" cy="603870"/>
          </a:xfrm>
          <a:prstGeom prst="roundRect">
            <a:avLst>
              <a:gd name="adj" fmla="val 12619"/>
            </a:avLst>
          </a:prstGeom>
          <a:solidFill>
            <a:srgbClr val="9184D9">
              <a:alpha val="16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8" name="Text 6"/>
          <p:cNvSpPr/>
          <p:nvPr/>
        </p:nvSpPr>
        <p:spPr>
          <a:xfrm>
            <a:off x="2366589" y="6148760"/>
            <a:ext cx="724197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224138" y="6053510"/>
            <a:ext cx="1332681" cy="603870"/>
          </a:xfrm>
          <a:prstGeom prst="roundRect">
            <a:avLst>
              <a:gd name="adj" fmla="val 12619"/>
            </a:avLst>
          </a:prstGeom>
          <a:solidFill>
            <a:srgbClr val="9184D9">
              <a:alpha val="16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0" name="Text 8"/>
          <p:cNvSpPr/>
          <p:nvPr/>
        </p:nvSpPr>
        <p:spPr>
          <a:xfrm>
            <a:off x="3414638" y="6148760"/>
            <a:ext cx="1027881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690170" y="6053510"/>
            <a:ext cx="853753" cy="603870"/>
          </a:xfrm>
          <a:prstGeom prst="roundRect">
            <a:avLst>
              <a:gd name="adj" fmla="val 12619"/>
            </a:avLst>
          </a:prstGeom>
          <a:solidFill>
            <a:srgbClr val="9184D9">
              <a:alpha val="16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2" name="Text 10"/>
          <p:cNvSpPr/>
          <p:nvPr/>
        </p:nvSpPr>
        <p:spPr>
          <a:xfrm>
            <a:off x="4880670" y="6148760"/>
            <a:ext cx="548953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677272" y="6053510"/>
            <a:ext cx="1370335" cy="603870"/>
          </a:xfrm>
          <a:prstGeom prst="roundRect">
            <a:avLst>
              <a:gd name="adj" fmla="val 12619"/>
            </a:avLst>
          </a:prstGeom>
          <a:solidFill>
            <a:srgbClr val="9184D9">
              <a:alpha val="16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4" name="Text 12"/>
          <p:cNvSpPr/>
          <p:nvPr/>
        </p:nvSpPr>
        <p:spPr>
          <a:xfrm>
            <a:off x="5867772" y="6148760"/>
            <a:ext cx="137033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 Vars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180957" y="6053510"/>
            <a:ext cx="1408212" cy="603870"/>
          </a:xfrm>
          <a:prstGeom prst="roundRect">
            <a:avLst>
              <a:gd name="adj" fmla="val 12619"/>
            </a:avLst>
          </a:prstGeom>
          <a:solidFill>
            <a:srgbClr val="9184D9">
              <a:alpha val="16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6" name="Text 14"/>
          <p:cNvSpPr/>
          <p:nvPr/>
        </p:nvSpPr>
        <p:spPr>
          <a:xfrm>
            <a:off x="7371457" y="6148760"/>
            <a:ext cx="1217712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Role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52500" y="6790730"/>
            <a:ext cx="1368028" cy="603870"/>
          </a:xfrm>
          <a:prstGeom prst="roundRect">
            <a:avLst>
              <a:gd name="adj" fmla="val 12619"/>
            </a:avLst>
          </a:prstGeom>
          <a:solidFill>
            <a:srgbClr val="9184D9">
              <a:alpha val="16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8" name="Text 16"/>
          <p:cNvSpPr/>
          <p:nvPr/>
        </p:nvSpPr>
        <p:spPr>
          <a:xfrm>
            <a:off x="1142999" y="6885980"/>
            <a:ext cx="1223589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Volumes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486900" y="1863477"/>
            <a:ext cx="7848600" cy="6750546"/>
          </a:xfrm>
          <a:prstGeom prst="roundRect">
            <a:avLst>
              <a:gd name="adj" fmla="val 1975"/>
            </a:avLst>
          </a:prstGeom>
          <a:solidFill>
            <a:srgbClr val="0F111C">
              <a:alpha val="90000"/>
            </a:srgbClr>
          </a:solidFill>
          <a:ln w="9525">
            <a:solidFill>
              <a:srgbClr val="9184D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0" y="1863477"/>
            <a:ext cx="7848600" cy="67505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720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490"/>
              </a:lnSpc>
              <a:buNone/>
            </a:pPr>
            <a:r>
              <a:rPr lang="en-US" sz="4800" kern="0" spc="-96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giữ đủ số Task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1749549"/>
            <a:ext cx="180213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8D8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Desired count = 3 — ECS replaces what dies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363766" y="2848719"/>
            <a:ext cx="1668959" cy="882923"/>
          </a:xfrm>
          <a:prstGeom prst="roundRect">
            <a:avLst>
              <a:gd name="adj" fmla="val 10788"/>
            </a:avLst>
          </a:prstGeom>
          <a:solidFill>
            <a:srgbClr val="9184D9">
              <a:alpha val="18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5" name="Text 3"/>
          <p:cNvSpPr/>
          <p:nvPr/>
        </p:nvSpPr>
        <p:spPr>
          <a:xfrm>
            <a:off x="5744766" y="3039219"/>
            <a:ext cx="983159" cy="54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128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363766" y="3903092"/>
            <a:ext cx="1668959" cy="901973"/>
          </a:xfrm>
          <a:prstGeom prst="roundRect">
            <a:avLst>
              <a:gd name="adj" fmla="val 10560"/>
            </a:avLst>
          </a:prstGeom>
          <a:solidFill>
            <a:srgbClr val="232532">
              <a:alpha val="80000"/>
            </a:srgbClr>
          </a:solidFill>
          <a:ln w="9525">
            <a:solidFill>
              <a:srgbClr val="E9E9ED">
                <a:alpha val="30000"/>
              </a:srgbClr>
            </a:solidFill>
            <a:prstDash val="dash"/>
          </a:ln>
        </p:spPr>
        <p:txBody>
          <a:bodyPr/>
          <a:lstStyle/>
          <a:p>
            <a:endParaRPr lang="en-VN"/>
          </a:p>
        </p:txBody>
      </p:sp>
      <p:sp>
        <p:nvSpPr>
          <p:cNvPr id="7" name="Text 5"/>
          <p:cNvSpPr/>
          <p:nvPr/>
        </p:nvSpPr>
        <p:spPr>
          <a:xfrm>
            <a:off x="5754291" y="4103117"/>
            <a:ext cx="1278434" cy="54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28"/>
              </a:lnSpc>
              <a:buNone/>
            </a:pPr>
            <a:r>
              <a:rPr lang="en-US" sz="2550" strike="sngStrike" dirty="0">
                <a:solidFill>
                  <a:srgbClr val="8D8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363766" y="4976515"/>
            <a:ext cx="1668959" cy="882923"/>
          </a:xfrm>
          <a:prstGeom prst="roundRect">
            <a:avLst>
              <a:gd name="adj" fmla="val 10788"/>
            </a:avLst>
          </a:prstGeom>
          <a:solidFill>
            <a:srgbClr val="9184D9">
              <a:alpha val="18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9" name="Text 7"/>
          <p:cNvSpPr/>
          <p:nvPr/>
        </p:nvSpPr>
        <p:spPr>
          <a:xfrm>
            <a:off x="5744766" y="5167015"/>
            <a:ext cx="1287959" cy="54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28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7605605" y="3686398"/>
            <a:ext cx="2484232" cy="86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574"/>
              </a:lnSpc>
              <a:buNone/>
            </a:pPr>
            <a:r>
              <a:rPr lang="en-US" sz="420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7605605" y="4608388"/>
            <a:ext cx="2484232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3538"/>
              </a:lnSpc>
              <a:buNone/>
            </a:pPr>
            <a:r>
              <a:rPr lang="en-US" sz="2100" dirty="0">
                <a:solidFill>
                  <a:srgbClr val="B5AB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ECS phát hiện thiếu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662717" y="2848719"/>
            <a:ext cx="2261518" cy="882923"/>
          </a:xfrm>
          <a:prstGeom prst="roundRect">
            <a:avLst>
              <a:gd name="adj" fmla="val 10788"/>
            </a:avLst>
          </a:prstGeom>
          <a:solidFill>
            <a:srgbClr val="9184D9">
              <a:alpha val="18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3" name="Text 11"/>
          <p:cNvSpPr/>
          <p:nvPr/>
        </p:nvSpPr>
        <p:spPr>
          <a:xfrm>
            <a:off x="11043717" y="3039219"/>
            <a:ext cx="1575718" cy="54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28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0662717" y="3903092"/>
            <a:ext cx="2261518" cy="882923"/>
          </a:xfrm>
          <a:prstGeom prst="roundRect">
            <a:avLst>
              <a:gd name="adj" fmla="val 10788"/>
            </a:avLst>
          </a:prstGeom>
          <a:solidFill>
            <a:srgbClr val="9184D9">
              <a:alpha val="18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5" name="Text 13"/>
          <p:cNvSpPr/>
          <p:nvPr/>
        </p:nvSpPr>
        <p:spPr>
          <a:xfrm>
            <a:off x="11043717" y="4093592"/>
            <a:ext cx="1575718" cy="54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28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0662717" y="4957465"/>
            <a:ext cx="2261518" cy="901973"/>
          </a:xfrm>
          <a:prstGeom prst="roundRect">
            <a:avLst>
              <a:gd name="adj" fmla="val 10560"/>
            </a:avLst>
          </a:prstGeom>
          <a:solidFill>
            <a:srgbClr val="9184D9">
              <a:alpha val="32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Text 15"/>
          <p:cNvSpPr/>
          <p:nvPr/>
        </p:nvSpPr>
        <p:spPr>
          <a:xfrm>
            <a:off x="11053241" y="5157490"/>
            <a:ext cx="1701863" cy="54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28"/>
              </a:lnSpc>
              <a:buNone/>
            </a:pPr>
            <a:r>
              <a:rPr lang="en-US" sz="2550" dirty="0">
                <a:solidFill>
                  <a:srgbClr val="F5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mới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52500" y="6392838"/>
            <a:ext cx="12541894" cy="107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9487"/>
              </a:lnSpc>
              <a:buNone/>
            </a:pPr>
            <a:r>
              <a:rPr lang="en-US" sz="25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Bạn không cần theo dõi từng container. Bạn khai báo trạng thái mong muốn, ECS giữ trạng thái đó.</a:t>
            </a:r>
            <a:endParaRPr lang="en-US" sz="2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720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490"/>
              </a:lnSpc>
              <a:buNone/>
            </a:pPr>
            <a:r>
              <a:rPr lang="en-US" sz="4800" kern="0" spc="-96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Type: EC2 hay Fargate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1749549"/>
            <a:ext cx="180213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8D8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owns the server — you, or AWS?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2658219"/>
            <a:ext cx="8001000" cy="4286176"/>
          </a:xfrm>
          <a:prstGeom prst="roundRect">
            <a:avLst>
              <a:gd name="adj" fmla="val 3556"/>
            </a:avLst>
          </a:prstGeom>
          <a:solidFill>
            <a:srgbClr val="232532">
              <a:alpha val="70000"/>
            </a:srgbClr>
          </a:solidFill>
          <a:ln w="9525">
            <a:solidFill>
              <a:srgbClr val="E9E9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Text 3"/>
          <p:cNvSpPr/>
          <p:nvPr/>
        </p:nvSpPr>
        <p:spPr>
          <a:xfrm>
            <a:off x="1343025" y="3086844"/>
            <a:ext cx="7941945" cy="68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725"/>
              </a:lnSpc>
              <a:buNone/>
            </a:pPr>
            <a:r>
              <a:rPr lang="en-US" sz="33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EC2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343025" y="3831654"/>
            <a:ext cx="794194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969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Bạn quản lý server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343025" y="4568875"/>
            <a:ext cx="994767" cy="680070"/>
          </a:xfrm>
          <a:prstGeom prst="roundRect">
            <a:avLst>
              <a:gd name="adj" fmla="val 12605"/>
            </a:avLst>
          </a:prstGeom>
          <a:solidFill>
            <a:srgbClr val="9184D9">
              <a:alpha val="16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8" name="Text 6"/>
          <p:cNvSpPr/>
          <p:nvPr/>
        </p:nvSpPr>
        <p:spPr>
          <a:xfrm>
            <a:off x="1590675" y="4702225"/>
            <a:ext cx="606147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2528292" y="4899347"/>
            <a:ext cx="323850" cy="19050"/>
          </a:xfrm>
          <a:prstGeom prst="rect">
            <a:avLst/>
          </a:prstGeom>
          <a:solidFill>
            <a:srgbClr val="5D5294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0" name="Shape 8"/>
          <p:cNvSpPr/>
          <p:nvPr/>
        </p:nvSpPr>
        <p:spPr>
          <a:xfrm>
            <a:off x="3042642" y="4568875"/>
            <a:ext cx="987475" cy="680070"/>
          </a:xfrm>
          <a:prstGeom prst="roundRect">
            <a:avLst>
              <a:gd name="adj" fmla="val 12605"/>
            </a:avLst>
          </a:prstGeom>
          <a:solidFill>
            <a:srgbClr val="9184D9">
              <a:alpha val="16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1" name="Text 9"/>
          <p:cNvSpPr/>
          <p:nvPr/>
        </p:nvSpPr>
        <p:spPr>
          <a:xfrm>
            <a:off x="3290292" y="4702225"/>
            <a:ext cx="56837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EC2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220617" y="4899347"/>
            <a:ext cx="323850" cy="19050"/>
          </a:xfrm>
          <a:prstGeom prst="rect">
            <a:avLst/>
          </a:prstGeom>
          <a:solidFill>
            <a:srgbClr val="5D5294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3" name="Shape 11"/>
          <p:cNvSpPr/>
          <p:nvPr/>
        </p:nvSpPr>
        <p:spPr>
          <a:xfrm>
            <a:off x="4734967" y="4568875"/>
            <a:ext cx="1315120" cy="680070"/>
          </a:xfrm>
          <a:prstGeom prst="roundRect">
            <a:avLst>
              <a:gd name="adj" fmla="val 12605"/>
            </a:avLst>
          </a:prstGeom>
          <a:solidFill>
            <a:srgbClr val="9184D9">
              <a:alpha val="16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4" name="Text 12"/>
          <p:cNvSpPr/>
          <p:nvPr/>
        </p:nvSpPr>
        <p:spPr>
          <a:xfrm>
            <a:off x="4982617" y="4702225"/>
            <a:ext cx="89602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43025" y="5572795"/>
            <a:ext cx="7436549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3478"/>
              </a:lnSpc>
              <a:buNone/>
            </a:pPr>
            <a:r>
              <a:rPr lang="en-US" sz="22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Rẻ hơn khi tải ổn định, kiểm soát sâu — nhưng bạn tự vá OS và tự lo scaling cụm máy.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334500" y="2658219"/>
            <a:ext cx="8001000" cy="4286176"/>
          </a:xfrm>
          <a:prstGeom prst="roundRect">
            <a:avLst>
              <a:gd name="adj" fmla="val 3556"/>
            </a:avLst>
          </a:prstGeom>
          <a:gradFill rotWithShape="1">
            <a:gsLst>
              <a:gs pos="0">
                <a:srgbClr val="423A6A">
                  <a:alpha val="60000"/>
                </a:srgbClr>
              </a:gs>
              <a:gs pos="100000">
                <a:srgbClr val="232532">
                  <a:alpha val="85000"/>
                </a:srgbClr>
              </a:gs>
            </a:gsLst>
            <a:lin ang="4200000" scaled="0"/>
          </a:gradFill>
          <a:ln w="9525">
            <a:solidFill>
              <a:srgbClr val="9184D9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Text 15"/>
          <p:cNvSpPr/>
          <p:nvPr/>
        </p:nvSpPr>
        <p:spPr>
          <a:xfrm>
            <a:off x="9725025" y="3086844"/>
            <a:ext cx="1520711" cy="68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725"/>
              </a:lnSpc>
              <a:buNone/>
            </a:pPr>
            <a:r>
              <a:rPr lang="en-US" sz="33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Fargate</a:t>
            </a:r>
            <a:endParaRPr lang="en-US" sz="3300" dirty="0"/>
          </a:p>
        </p:txBody>
      </p:sp>
      <p:sp>
        <p:nvSpPr>
          <p:cNvPr id="18" name="Shape 16"/>
          <p:cNvSpPr/>
          <p:nvPr/>
        </p:nvSpPr>
        <p:spPr>
          <a:xfrm>
            <a:off x="11297989" y="3158282"/>
            <a:ext cx="3273103" cy="506685"/>
          </a:xfrm>
          <a:prstGeom prst="roundRect">
            <a:avLst>
              <a:gd name="adj" fmla="val 50000"/>
            </a:avLst>
          </a:prstGeom>
          <a:solidFill>
            <a:srgbClr val="9184D9">
              <a:alpha val="3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9" name="Text 17"/>
          <p:cNvSpPr/>
          <p:nvPr/>
        </p:nvSpPr>
        <p:spPr>
          <a:xfrm>
            <a:off x="11469438" y="3234482"/>
            <a:ext cx="3151183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kern="0" spc="144" dirty="0">
                <a:solidFill>
                  <a:srgbClr val="F5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NÊN DÙNG KHI MỚI HỌC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725025" y="3831654"/>
            <a:ext cx="794194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969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quản lý server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725025" y="4568875"/>
            <a:ext cx="994767" cy="680070"/>
          </a:xfrm>
          <a:prstGeom prst="roundRect">
            <a:avLst>
              <a:gd name="adj" fmla="val 12605"/>
            </a:avLst>
          </a:prstGeom>
          <a:solidFill>
            <a:srgbClr val="9184D9">
              <a:alpha val="22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2" name="Text 20"/>
          <p:cNvSpPr/>
          <p:nvPr/>
        </p:nvSpPr>
        <p:spPr>
          <a:xfrm>
            <a:off x="9972675" y="4702225"/>
            <a:ext cx="747116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ECS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0910292" y="4899347"/>
            <a:ext cx="323850" cy="19050"/>
          </a:xfrm>
          <a:prstGeom prst="rect">
            <a:avLst/>
          </a:prstGeom>
          <a:solidFill>
            <a:srgbClr val="9184D9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4" name="Shape 22"/>
          <p:cNvSpPr/>
          <p:nvPr/>
        </p:nvSpPr>
        <p:spPr>
          <a:xfrm>
            <a:off x="11424642" y="4568875"/>
            <a:ext cx="1355303" cy="680070"/>
          </a:xfrm>
          <a:prstGeom prst="roundRect">
            <a:avLst>
              <a:gd name="adj" fmla="val 12605"/>
            </a:avLst>
          </a:prstGeom>
          <a:solidFill>
            <a:srgbClr val="9184D9">
              <a:alpha val="22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5" name="Text 23"/>
          <p:cNvSpPr/>
          <p:nvPr/>
        </p:nvSpPr>
        <p:spPr>
          <a:xfrm>
            <a:off x="11672292" y="4702225"/>
            <a:ext cx="1107653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Fargate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2970446" y="4899347"/>
            <a:ext cx="323850" cy="19050"/>
          </a:xfrm>
          <a:prstGeom prst="rect">
            <a:avLst/>
          </a:prstGeom>
          <a:solidFill>
            <a:srgbClr val="9184D9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7" name="Shape 25"/>
          <p:cNvSpPr/>
          <p:nvPr/>
        </p:nvSpPr>
        <p:spPr>
          <a:xfrm>
            <a:off x="13484796" y="4568875"/>
            <a:ext cx="1619027" cy="680070"/>
          </a:xfrm>
          <a:prstGeom prst="roundRect">
            <a:avLst>
              <a:gd name="adj" fmla="val 12605"/>
            </a:avLst>
          </a:prstGeom>
          <a:solidFill>
            <a:srgbClr val="9184D9">
              <a:alpha val="22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8" name="Text 26"/>
          <p:cNvSpPr/>
          <p:nvPr/>
        </p:nvSpPr>
        <p:spPr>
          <a:xfrm>
            <a:off x="13732446" y="4702225"/>
            <a:ext cx="1371377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725025" y="5572795"/>
            <a:ext cx="7436549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3478"/>
              </a:lnSpc>
              <a:buNone/>
            </a:pPr>
            <a:r>
              <a:rPr lang="en-US" sz="2250" dirty="0">
                <a:solidFill>
                  <a:srgbClr val="C3C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tạo EC2, không vá OS, trả tiền theo vCPU và RAM thực dùng — đơn giá cao hơn.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720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490"/>
              </a:lnSpc>
              <a:buNone/>
            </a:pPr>
            <a:r>
              <a:rPr lang="en-US" sz="4800" kern="0" spc="-96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 chế độ mạng của ECS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1749549"/>
            <a:ext cx="180213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8D8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· host · awsvpc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2696319"/>
            <a:ext cx="5257800" cy="4617690"/>
          </a:xfrm>
          <a:prstGeom prst="roundRect">
            <a:avLst>
              <a:gd name="adj" fmla="val 2888"/>
            </a:avLst>
          </a:prstGeom>
          <a:solidFill>
            <a:srgbClr val="232532">
              <a:alpha val="70000"/>
            </a:srgbClr>
          </a:solidFill>
          <a:ln w="9525">
            <a:solidFill>
              <a:srgbClr val="E9E9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Text 3"/>
          <p:cNvSpPr/>
          <p:nvPr/>
        </p:nvSpPr>
        <p:spPr>
          <a:xfrm>
            <a:off x="1304925" y="3124944"/>
            <a:ext cx="500824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981"/>
              </a:lnSpc>
              <a:buNone/>
            </a:pPr>
            <a:r>
              <a:rPr lang="en-US" sz="3000" dirty="0">
                <a:solidFill>
                  <a:srgbClr val="E9E9E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bridge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04925" y="3925044"/>
            <a:ext cx="4689539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9130"/>
              </a:lnSpc>
              <a:buNone/>
            </a:pPr>
            <a:r>
              <a:rPr lang="en-US" sz="22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 qua mạng ảo Docker trên host. Phải map port, dễ trùng port.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2790899" y="5163294"/>
            <a:ext cx="1580927" cy="641970"/>
          </a:xfrm>
          <a:prstGeom prst="roundRect">
            <a:avLst>
              <a:gd name="adj" fmla="val 11870"/>
            </a:avLst>
          </a:prstGeom>
          <a:solidFill>
            <a:srgbClr val="9184D9">
              <a:alpha val="14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8" name="Text 6"/>
          <p:cNvSpPr/>
          <p:nvPr/>
        </p:nvSpPr>
        <p:spPr>
          <a:xfrm>
            <a:off x="3019499" y="5277594"/>
            <a:ext cx="1297633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571875" y="5919564"/>
            <a:ext cx="19050" cy="209550"/>
          </a:xfrm>
          <a:prstGeom prst="rect">
            <a:avLst/>
          </a:prstGeom>
          <a:solidFill>
            <a:srgbClr val="5D5294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0" name="Shape 8"/>
          <p:cNvSpPr/>
          <p:nvPr/>
        </p:nvSpPr>
        <p:spPr>
          <a:xfrm>
            <a:off x="2538264" y="6243414"/>
            <a:ext cx="2086198" cy="641970"/>
          </a:xfrm>
          <a:prstGeom prst="roundRect">
            <a:avLst>
              <a:gd name="adj" fmla="val 11870"/>
            </a:avLst>
          </a:prstGeom>
          <a:solidFill>
            <a:srgbClr val="9184D9">
              <a:alpha val="14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1" name="Text 9"/>
          <p:cNvSpPr/>
          <p:nvPr/>
        </p:nvSpPr>
        <p:spPr>
          <a:xfrm>
            <a:off x="2766864" y="6357714"/>
            <a:ext cx="1857598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Bridge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515100" y="2696319"/>
            <a:ext cx="5257800" cy="4617690"/>
          </a:xfrm>
          <a:prstGeom prst="roundRect">
            <a:avLst>
              <a:gd name="adj" fmla="val 2888"/>
            </a:avLst>
          </a:prstGeom>
          <a:solidFill>
            <a:srgbClr val="232532">
              <a:alpha val="70000"/>
            </a:srgbClr>
          </a:solidFill>
          <a:ln w="9525">
            <a:solidFill>
              <a:srgbClr val="E9E9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Text 11"/>
          <p:cNvSpPr/>
          <p:nvPr/>
        </p:nvSpPr>
        <p:spPr>
          <a:xfrm>
            <a:off x="6867525" y="3124944"/>
            <a:ext cx="500824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981"/>
              </a:lnSpc>
              <a:buNone/>
            </a:pPr>
            <a:r>
              <a:rPr lang="en-US" sz="3000" dirty="0">
                <a:solidFill>
                  <a:srgbClr val="E9E9E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host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867525" y="3925044"/>
            <a:ext cx="4689539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9130"/>
              </a:lnSpc>
              <a:buNone/>
            </a:pPr>
            <a:r>
              <a:rPr lang="en-US" sz="22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trực tiếp IP và port của host. Nhanh nhất, kém cô lập.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8353499" y="5163294"/>
            <a:ext cx="1580927" cy="641970"/>
          </a:xfrm>
          <a:prstGeom prst="roundRect">
            <a:avLst>
              <a:gd name="adj" fmla="val 11870"/>
            </a:avLst>
          </a:prstGeom>
          <a:solidFill>
            <a:srgbClr val="9184D9">
              <a:alpha val="14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6" name="Text 14"/>
          <p:cNvSpPr/>
          <p:nvPr/>
        </p:nvSpPr>
        <p:spPr>
          <a:xfrm>
            <a:off x="8582099" y="5277594"/>
            <a:ext cx="1290043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134475" y="5919564"/>
            <a:ext cx="19050" cy="209550"/>
          </a:xfrm>
          <a:prstGeom prst="rect">
            <a:avLst/>
          </a:prstGeom>
          <a:solidFill>
            <a:srgbClr val="5D5294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8" name="Shape 16"/>
          <p:cNvSpPr/>
          <p:nvPr/>
        </p:nvSpPr>
        <p:spPr>
          <a:xfrm>
            <a:off x="8263384" y="6243414"/>
            <a:ext cx="1761158" cy="641970"/>
          </a:xfrm>
          <a:prstGeom prst="roundRect">
            <a:avLst>
              <a:gd name="adj" fmla="val 11870"/>
            </a:avLst>
          </a:prstGeom>
          <a:solidFill>
            <a:srgbClr val="9184D9">
              <a:alpha val="14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9" name="Text 17"/>
          <p:cNvSpPr/>
          <p:nvPr/>
        </p:nvSpPr>
        <p:spPr>
          <a:xfrm>
            <a:off x="8491984" y="6357714"/>
            <a:ext cx="1532558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của Host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2077700" y="2696319"/>
            <a:ext cx="5257800" cy="4617690"/>
          </a:xfrm>
          <a:prstGeom prst="roundRect">
            <a:avLst>
              <a:gd name="adj" fmla="val 2888"/>
            </a:avLst>
          </a:prstGeom>
          <a:gradFill rotWithShape="1">
            <a:gsLst>
              <a:gs pos="0">
                <a:srgbClr val="423A6A">
                  <a:alpha val="55000"/>
                </a:srgbClr>
              </a:gs>
              <a:gs pos="100000">
                <a:srgbClr val="232532">
                  <a:alpha val="85000"/>
                </a:srgbClr>
              </a:gs>
            </a:gsLst>
            <a:lin ang="4200000" scaled="0"/>
          </a:gradFill>
          <a:ln w="9525">
            <a:solidFill>
              <a:srgbClr val="9184D9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1" name="Text 19"/>
          <p:cNvSpPr/>
          <p:nvPr/>
        </p:nvSpPr>
        <p:spPr>
          <a:xfrm>
            <a:off x="12430125" y="3124944"/>
            <a:ext cx="150876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981"/>
              </a:lnSpc>
              <a:buNone/>
            </a:pPr>
            <a:r>
              <a:rPr lang="en-US" sz="3000" dirty="0">
                <a:solidFill>
                  <a:srgbClr val="E9E9E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awsvpc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13954125" y="3185889"/>
            <a:ext cx="1908200" cy="468585"/>
          </a:xfrm>
          <a:prstGeom prst="roundRect">
            <a:avLst>
              <a:gd name="adj" fmla="val 50000"/>
            </a:avLst>
          </a:prstGeom>
          <a:solidFill>
            <a:srgbClr val="9184D9">
              <a:alpha val="3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3" name="Text 21"/>
          <p:cNvSpPr/>
          <p:nvPr/>
        </p:nvSpPr>
        <p:spPr>
          <a:xfrm>
            <a:off x="14087474" y="3243039"/>
            <a:ext cx="1908199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kern="0" spc="108" dirty="0">
                <a:solidFill>
                  <a:srgbClr val="F5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KHUYẾN NGHỊ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430125" y="3925044"/>
            <a:ext cx="4689539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9130"/>
              </a:lnSpc>
              <a:buNone/>
            </a:pPr>
            <a:r>
              <a:rPr lang="en-US" sz="2250" dirty="0">
                <a:solidFill>
                  <a:srgbClr val="C3C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Task có ENI và IP riêng trong VPC, Security Group riêng.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14275668" y="5163294"/>
            <a:ext cx="861864" cy="641970"/>
          </a:xfrm>
          <a:prstGeom prst="roundRect">
            <a:avLst>
              <a:gd name="adj" fmla="val 11870"/>
            </a:avLst>
          </a:prstGeom>
          <a:solidFill>
            <a:srgbClr val="9184D9">
              <a:alpha val="22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6" name="Text 24"/>
          <p:cNvSpPr/>
          <p:nvPr/>
        </p:nvSpPr>
        <p:spPr>
          <a:xfrm>
            <a:off x="14504268" y="5277594"/>
            <a:ext cx="633264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ENI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4697075" y="5919564"/>
            <a:ext cx="19050" cy="209550"/>
          </a:xfrm>
          <a:prstGeom prst="rect">
            <a:avLst/>
          </a:prstGeom>
          <a:solidFill>
            <a:srgbClr val="9184D9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8" name="Shape 26"/>
          <p:cNvSpPr/>
          <p:nvPr/>
        </p:nvSpPr>
        <p:spPr>
          <a:xfrm>
            <a:off x="13430994" y="6243414"/>
            <a:ext cx="2551212" cy="641970"/>
          </a:xfrm>
          <a:prstGeom prst="roundRect">
            <a:avLst>
              <a:gd name="adj" fmla="val 11870"/>
            </a:avLst>
          </a:prstGeom>
          <a:solidFill>
            <a:srgbClr val="9184D9">
              <a:alpha val="22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9" name="Text 27"/>
          <p:cNvSpPr/>
          <p:nvPr/>
        </p:nvSpPr>
        <p:spPr>
          <a:xfrm>
            <a:off x="13659593" y="6357714"/>
            <a:ext cx="2202731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riêng trong VPC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086770"/>
            <a:ext cx="8633460" cy="720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490"/>
              </a:lnSpc>
              <a:buNone/>
            </a:pPr>
            <a:r>
              <a:rPr lang="en-US" sz="4800" kern="0" spc="-96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 Scaling theo tải thật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3883819"/>
            <a:ext cx="863346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8D8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on CPU, memory, ALB requests, any metric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4678189"/>
            <a:ext cx="8084058" cy="16409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3846"/>
              </a:lnSpc>
              <a:buNone/>
            </a:pPr>
            <a:r>
              <a:rPr lang="en-US" sz="25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sàn thương mại điện tử chạy 4 Task ngày thường. 20h giờ cao điểm, số request tăng gấp ba, policy tự nâng lên 12 Task; 23h giảm dần về 4.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6671593"/>
            <a:ext cx="1975024" cy="709613"/>
          </a:xfrm>
          <a:prstGeom prst="roundRect">
            <a:avLst>
              <a:gd name="adj" fmla="val 12081"/>
            </a:avLst>
          </a:prstGeom>
          <a:solidFill>
            <a:srgbClr val="9184D9">
              <a:alpha val="16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6" name="Text 4"/>
          <p:cNvSpPr/>
          <p:nvPr/>
        </p:nvSpPr>
        <p:spPr>
          <a:xfrm>
            <a:off x="1219200" y="6804943"/>
            <a:ext cx="1708324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&gt; 70%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175174" y="6731124"/>
            <a:ext cx="42483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300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771454" y="6662068"/>
            <a:ext cx="1884387" cy="728663"/>
          </a:xfrm>
          <a:prstGeom prst="roundRect">
            <a:avLst>
              <a:gd name="adj" fmla="val 11765"/>
            </a:avLst>
          </a:prstGeom>
          <a:solidFill>
            <a:srgbClr val="9184D9">
              <a:alpha val="30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Text 7"/>
          <p:cNvSpPr/>
          <p:nvPr/>
        </p:nvSpPr>
        <p:spPr>
          <a:xfrm>
            <a:off x="4047679" y="6804943"/>
            <a:ext cx="149096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F5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 Task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486900" y="5805488"/>
            <a:ext cx="831056" cy="941040"/>
          </a:xfrm>
          <a:custGeom>
            <a:avLst/>
            <a:gdLst/>
            <a:ahLst/>
            <a:cxnLst/>
            <a:rect l="l" t="t" r="r" b="b"/>
            <a:pathLst>
              <a:path w="831056" h="941040">
                <a:moveTo>
                  <a:pt x="76200" y="0"/>
                </a:moveTo>
                <a:lnTo>
                  <a:pt x="754856" y="0"/>
                </a:lnTo>
                <a:arcTo wR="76200" hR="76200" stAng="16200000" swAng="5400000"/>
                <a:lnTo>
                  <a:pt x="831056" y="941040"/>
                </a:lnTo>
                <a:lnTo>
                  <a:pt x="0" y="94104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9184D9">
              <a:alpha val="28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1" name="Shape 9"/>
          <p:cNvSpPr/>
          <p:nvPr/>
        </p:nvSpPr>
        <p:spPr>
          <a:xfrm>
            <a:off x="10489406" y="5588347"/>
            <a:ext cx="831056" cy="1158180"/>
          </a:xfrm>
          <a:custGeom>
            <a:avLst/>
            <a:gdLst/>
            <a:ahLst/>
            <a:cxnLst/>
            <a:rect l="l" t="t" r="r" b="b"/>
            <a:pathLst>
              <a:path w="831056" h="1158180">
                <a:moveTo>
                  <a:pt x="76200" y="0"/>
                </a:moveTo>
                <a:lnTo>
                  <a:pt x="754856" y="0"/>
                </a:lnTo>
                <a:arcTo wR="76200" hR="76200" stAng="16200000" swAng="5400000"/>
                <a:lnTo>
                  <a:pt x="831056" y="1158180"/>
                </a:lnTo>
                <a:lnTo>
                  <a:pt x="0" y="115818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9184D9">
              <a:alpha val="28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2" name="Shape 10"/>
          <p:cNvSpPr/>
          <p:nvPr/>
        </p:nvSpPr>
        <p:spPr>
          <a:xfrm>
            <a:off x="11491913" y="5153992"/>
            <a:ext cx="831056" cy="1592535"/>
          </a:xfrm>
          <a:custGeom>
            <a:avLst/>
            <a:gdLst/>
            <a:ahLst/>
            <a:cxnLst/>
            <a:rect l="l" t="t" r="r" b="b"/>
            <a:pathLst>
              <a:path w="831056" h="1592535">
                <a:moveTo>
                  <a:pt x="76200" y="0"/>
                </a:moveTo>
                <a:lnTo>
                  <a:pt x="754856" y="0"/>
                </a:lnTo>
                <a:arcTo wR="76200" hR="76200" stAng="16200000" swAng="5400000"/>
                <a:lnTo>
                  <a:pt x="831056" y="1592535"/>
                </a:lnTo>
                <a:lnTo>
                  <a:pt x="0" y="1592535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9184D9">
              <a:alpha val="4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3" name="Shape 11"/>
          <p:cNvSpPr/>
          <p:nvPr/>
        </p:nvSpPr>
        <p:spPr>
          <a:xfrm>
            <a:off x="12494419" y="4430092"/>
            <a:ext cx="831056" cy="2316435"/>
          </a:xfrm>
          <a:custGeom>
            <a:avLst/>
            <a:gdLst/>
            <a:ahLst/>
            <a:cxnLst/>
            <a:rect l="l" t="t" r="r" b="b"/>
            <a:pathLst>
              <a:path w="831056" h="2316435">
                <a:moveTo>
                  <a:pt x="76200" y="0"/>
                </a:moveTo>
                <a:lnTo>
                  <a:pt x="754856" y="0"/>
                </a:lnTo>
                <a:arcTo wR="76200" hR="76200" stAng="16200000" swAng="5400000"/>
                <a:lnTo>
                  <a:pt x="831056" y="2316435"/>
                </a:lnTo>
                <a:lnTo>
                  <a:pt x="0" y="2316435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9184D9">
              <a:alpha val="55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4" name="Shape 12"/>
          <p:cNvSpPr/>
          <p:nvPr/>
        </p:nvSpPr>
        <p:spPr>
          <a:xfrm>
            <a:off x="13496925" y="3127028"/>
            <a:ext cx="831056" cy="3619500"/>
          </a:xfrm>
          <a:custGeom>
            <a:avLst/>
            <a:gdLst/>
            <a:ahLst/>
            <a:cxnLst/>
            <a:rect l="l" t="t" r="r" b="b"/>
            <a:pathLst>
              <a:path w="831056" h="3619500">
                <a:moveTo>
                  <a:pt x="76200" y="0"/>
                </a:moveTo>
                <a:lnTo>
                  <a:pt x="754856" y="0"/>
                </a:lnTo>
                <a:arcTo wR="76200" hR="76200" stAng="16200000" swAng="5400000"/>
                <a:lnTo>
                  <a:pt x="831056" y="3619500"/>
                </a:lnTo>
                <a:lnTo>
                  <a:pt x="0" y="361950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9184D9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5" name="Shape 13"/>
          <p:cNvSpPr/>
          <p:nvPr/>
        </p:nvSpPr>
        <p:spPr>
          <a:xfrm>
            <a:off x="14499431" y="3923333"/>
            <a:ext cx="831056" cy="2823195"/>
          </a:xfrm>
          <a:custGeom>
            <a:avLst/>
            <a:gdLst/>
            <a:ahLst/>
            <a:cxnLst/>
            <a:rect l="l" t="t" r="r" b="b"/>
            <a:pathLst>
              <a:path w="831056" h="2823195">
                <a:moveTo>
                  <a:pt x="76200" y="0"/>
                </a:moveTo>
                <a:lnTo>
                  <a:pt x="754856" y="0"/>
                </a:lnTo>
                <a:arcTo wR="76200" hR="76200" stAng="16200000" swAng="5400000"/>
                <a:lnTo>
                  <a:pt x="831056" y="2823195"/>
                </a:lnTo>
                <a:lnTo>
                  <a:pt x="0" y="2823195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9184D9">
              <a:alpha val="6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6" name="Shape 14"/>
          <p:cNvSpPr/>
          <p:nvPr/>
        </p:nvSpPr>
        <p:spPr>
          <a:xfrm>
            <a:off x="15501938" y="5226397"/>
            <a:ext cx="831056" cy="1520130"/>
          </a:xfrm>
          <a:custGeom>
            <a:avLst/>
            <a:gdLst/>
            <a:ahLst/>
            <a:cxnLst/>
            <a:rect l="l" t="t" r="r" b="b"/>
            <a:pathLst>
              <a:path w="831056" h="1520130">
                <a:moveTo>
                  <a:pt x="76200" y="0"/>
                </a:moveTo>
                <a:lnTo>
                  <a:pt x="754856" y="0"/>
                </a:lnTo>
                <a:arcTo wR="76200" hR="76200" stAng="16200000" swAng="5400000"/>
                <a:lnTo>
                  <a:pt x="831056" y="1520130"/>
                </a:lnTo>
                <a:lnTo>
                  <a:pt x="0" y="152013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9184D9">
              <a:alpha val="4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7" name="Shape 15"/>
          <p:cNvSpPr/>
          <p:nvPr/>
        </p:nvSpPr>
        <p:spPr>
          <a:xfrm>
            <a:off x="16504444" y="5733083"/>
            <a:ext cx="831056" cy="1013445"/>
          </a:xfrm>
          <a:custGeom>
            <a:avLst/>
            <a:gdLst/>
            <a:ahLst/>
            <a:cxnLst/>
            <a:rect l="l" t="t" r="r" b="b"/>
            <a:pathLst>
              <a:path w="831056" h="1013445">
                <a:moveTo>
                  <a:pt x="76200" y="0"/>
                </a:moveTo>
                <a:lnTo>
                  <a:pt x="754856" y="0"/>
                </a:lnTo>
                <a:arcTo wR="76200" hR="76200" stAng="16200000" swAng="5400000"/>
                <a:lnTo>
                  <a:pt x="831056" y="1013445"/>
                </a:lnTo>
                <a:lnTo>
                  <a:pt x="0" y="1013445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9184D9">
              <a:alpha val="28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8" name="Text 16"/>
          <p:cNvSpPr/>
          <p:nvPr/>
        </p:nvSpPr>
        <p:spPr>
          <a:xfrm>
            <a:off x="9486900" y="6937028"/>
            <a:ext cx="387176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7E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8h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485191" y="6937028"/>
            <a:ext cx="2047042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7E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20h — cao điểm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7033453" y="6937028"/>
            <a:ext cx="378247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7E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2h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720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490"/>
              </a:lnSpc>
              <a:buNone/>
            </a:pPr>
            <a:r>
              <a:rPr lang="en-US" sz="4800" kern="0" spc="-96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Hai cách ra phiên bản mới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1749549"/>
            <a:ext cx="180213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8D8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update and blue/green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2696319"/>
            <a:ext cx="8001000" cy="4833863"/>
          </a:xfrm>
          <a:prstGeom prst="roundRect">
            <a:avLst>
              <a:gd name="adj" fmla="val 3153"/>
            </a:avLst>
          </a:prstGeom>
          <a:solidFill>
            <a:srgbClr val="232532">
              <a:alpha val="70000"/>
            </a:srgbClr>
          </a:solidFill>
          <a:ln w="9525">
            <a:solidFill>
              <a:srgbClr val="E9E9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Text 3"/>
          <p:cNvSpPr/>
          <p:nvPr/>
        </p:nvSpPr>
        <p:spPr>
          <a:xfrm>
            <a:off x="1343025" y="3124944"/>
            <a:ext cx="7941945" cy="68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725"/>
              </a:lnSpc>
              <a:buNone/>
            </a:pPr>
            <a:r>
              <a:rPr lang="en-US" sz="33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Update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343025" y="3869754"/>
            <a:ext cx="794194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969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Thay dần từng Task, không downtime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343025" y="4626025"/>
            <a:ext cx="825847" cy="680070"/>
          </a:xfrm>
          <a:prstGeom prst="roundRect">
            <a:avLst>
              <a:gd name="adj" fmla="val 11205"/>
            </a:avLst>
          </a:prstGeom>
          <a:solidFill>
            <a:srgbClr val="9184D9">
              <a:alpha val="18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8" name="Text 6"/>
          <p:cNvSpPr/>
          <p:nvPr/>
        </p:nvSpPr>
        <p:spPr>
          <a:xfrm>
            <a:off x="1628775" y="4759375"/>
            <a:ext cx="429127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2321272" y="4626025"/>
            <a:ext cx="825847" cy="680070"/>
          </a:xfrm>
          <a:prstGeom prst="roundRect">
            <a:avLst>
              <a:gd name="adj" fmla="val 11205"/>
            </a:avLst>
          </a:prstGeom>
          <a:solidFill>
            <a:srgbClr val="9184D9">
              <a:alpha val="18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0" name="Text 8"/>
          <p:cNvSpPr/>
          <p:nvPr/>
        </p:nvSpPr>
        <p:spPr>
          <a:xfrm>
            <a:off x="2607022" y="4759375"/>
            <a:ext cx="429128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299520" y="4626025"/>
            <a:ext cx="825847" cy="680070"/>
          </a:xfrm>
          <a:prstGeom prst="roundRect">
            <a:avLst>
              <a:gd name="adj" fmla="val 11205"/>
            </a:avLst>
          </a:prstGeom>
          <a:solidFill>
            <a:srgbClr val="9184D9">
              <a:alpha val="18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2" name="Text 10"/>
          <p:cNvSpPr/>
          <p:nvPr/>
        </p:nvSpPr>
        <p:spPr>
          <a:xfrm>
            <a:off x="3585270" y="4759375"/>
            <a:ext cx="363214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343025" y="5458495"/>
            <a:ext cx="858515" cy="680070"/>
          </a:xfrm>
          <a:prstGeom prst="roundRect">
            <a:avLst>
              <a:gd name="adj" fmla="val 11205"/>
            </a:avLst>
          </a:prstGeom>
          <a:solidFill>
            <a:srgbClr val="9184D9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4" name="Text 12"/>
          <p:cNvSpPr/>
          <p:nvPr/>
        </p:nvSpPr>
        <p:spPr>
          <a:xfrm>
            <a:off x="1628775" y="5591845"/>
            <a:ext cx="36321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16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2353940" y="5458495"/>
            <a:ext cx="825847" cy="680070"/>
          </a:xfrm>
          <a:prstGeom prst="roundRect">
            <a:avLst>
              <a:gd name="adj" fmla="val 11205"/>
            </a:avLst>
          </a:prstGeom>
          <a:solidFill>
            <a:srgbClr val="9184D9">
              <a:alpha val="18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6" name="Text 14"/>
          <p:cNvSpPr/>
          <p:nvPr/>
        </p:nvSpPr>
        <p:spPr>
          <a:xfrm>
            <a:off x="2639690" y="5591845"/>
            <a:ext cx="429127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3332187" y="5458495"/>
            <a:ext cx="825847" cy="680070"/>
          </a:xfrm>
          <a:prstGeom prst="roundRect">
            <a:avLst>
              <a:gd name="adj" fmla="val 11205"/>
            </a:avLst>
          </a:prstGeom>
          <a:solidFill>
            <a:srgbClr val="9184D9">
              <a:alpha val="18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8" name="Text 16"/>
          <p:cNvSpPr/>
          <p:nvPr/>
        </p:nvSpPr>
        <p:spPr>
          <a:xfrm>
            <a:off x="3617937" y="5591845"/>
            <a:ext cx="330547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343025" y="6290965"/>
            <a:ext cx="858515" cy="680070"/>
          </a:xfrm>
          <a:prstGeom prst="roundRect">
            <a:avLst>
              <a:gd name="adj" fmla="val 11205"/>
            </a:avLst>
          </a:prstGeom>
          <a:solidFill>
            <a:srgbClr val="9184D9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0" name="Text 18"/>
          <p:cNvSpPr/>
          <p:nvPr/>
        </p:nvSpPr>
        <p:spPr>
          <a:xfrm>
            <a:off x="1628775" y="6424315"/>
            <a:ext cx="36321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16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2353940" y="6290965"/>
            <a:ext cx="858515" cy="680070"/>
          </a:xfrm>
          <a:prstGeom prst="roundRect">
            <a:avLst>
              <a:gd name="adj" fmla="val 11205"/>
            </a:avLst>
          </a:prstGeom>
          <a:solidFill>
            <a:srgbClr val="9184D9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2" name="Text 20"/>
          <p:cNvSpPr/>
          <p:nvPr/>
        </p:nvSpPr>
        <p:spPr>
          <a:xfrm>
            <a:off x="2639690" y="6424315"/>
            <a:ext cx="36321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16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3364855" y="6290965"/>
            <a:ext cx="858515" cy="680070"/>
          </a:xfrm>
          <a:prstGeom prst="roundRect">
            <a:avLst>
              <a:gd name="adj" fmla="val 11205"/>
            </a:avLst>
          </a:prstGeom>
          <a:solidFill>
            <a:srgbClr val="9184D9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4" name="Text 22"/>
          <p:cNvSpPr/>
          <p:nvPr/>
        </p:nvSpPr>
        <p:spPr>
          <a:xfrm>
            <a:off x="3650605" y="6424315"/>
            <a:ext cx="36321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16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9334500" y="2696319"/>
            <a:ext cx="8001000" cy="4833863"/>
          </a:xfrm>
          <a:prstGeom prst="roundRect">
            <a:avLst>
              <a:gd name="adj" fmla="val 3153"/>
            </a:avLst>
          </a:prstGeom>
          <a:solidFill>
            <a:srgbClr val="232532">
              <a:alpha val="70000"/>
            </a:srgbClr>
          </a:solidFill>
          <a:ln w="9525">
            <a:solidFill>
              <a:srgbClr val="E9E9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6" name="Text 24"/>
          <p:cNvSpPr/>
          <p:nvPr/>
        </p:nvSpPr>
        <p:spPr>
          <a:xfrm>
            <a:off x="9725025" y="3124944"/>
            <a:ext cx="7941945" cy="68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725"/>
              </a:lnSpc>
              <a:buNone/>
            </a:pPr>
            <a:r>
              <a:rPr lang="en-US" sz="33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/ Green</a:t>
            </a:r>
            <a:endParaRPr lang="en-US" sz="3300" dirty="0"/>
          </a:p>
        </p:txBody>
      </p:sp>
      <p:sp>
        <p:nvSpPr>
          <p:cNvPr id="27" name="Text 25"/>
          <p:cNvSpPr/>
          <p:nvPr/>
        </p:nvSpPr>
        <p:spPr>
          <a:xfrm>
            <a:off x="9725025" y="3869754"/>
            <a:ext cx="794194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969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Dựng song song, test xong mới chuyển traffic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0600506" y="4702225"/>
            <a:ext cx="2066851" cy="1561133"/>
          </a:xfrm>
          <a:prstGeom prst="roundRect">
            <a:avLst>
              <a:gd name="adj" fmla="val 7322"/>
            </a:avLst>
          </a:prstGeom>
          <a:solidFill>
            <a:srgbClr val="262A60">
              <a:alpha val="50000"/>
            </a:srgbClr>
          </a:solidFill>
          <a:ln w="9525">
            <a:solidFill>
              <a:srgbClr val="4C539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9" name="Text 27"/>
          <p:cNvSpPr/>
          <p:nvPr/>
        </p:nvSpPr>
        <p:spPr>
          <a:xfrm>
            <a:off x="10863876" y="4997500"/>
            <a:ext cx="154011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783"/>
              </a:lnSpc>
              <a:buNone/>
            </a:pPr>
            <a:r>
              <a:rPr lang="en-US" sz="2250" dirty="0">
                <a:solidFill>
                  <a:srgbClr val="B5A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— v1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0863876" y="5554712"/>
            <a:ext cx="1540111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3538"/>
              </a:lnSpc>
              <a:buNone/>
            </a:pPr>
            <a:r>
              <a:rPr lang="en-US" sz="2100" dirty="0">
                <a:solidFill>
                  <a:srgbClr val="7E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traffic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2915007" y="4951288"/>
            <a:ext cx="821754" cy="68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3725"/>
              </a:lnSpc>
              <a:buNone/>
            </a:pPr>
            <a:r>
              <a:rPr lang="en-US" sz="330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32" name="Text 30"/>
          <p:cNvSpPr/>
          <p:nvPr/>
        </p:nvSpPr>
        <p:spPr>
          <a:xfrm>
            <a:off x="12915007" y="5600849"/>
            <a:ext cx="821754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3538"/>
              </a:lnSpc>
              <a:buNone/>
            </a:pPr>
            <a:r>
              <a:rPr lang="en-US" sz="2100" dirty="0">
                <a:solidFill>
                  <a:srgbClr val="B5AB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13984412" y="4702225"/>
            <a:ext cx="2085082" cy="1561133"/>
          </a:xfrm>
          <a:prstGeom prst="roundRect">
            <a:avLst>
              <a:gd name="adj" fmla="val 7322"/>
            </a:avLst>
          </a:prstGeom>
          <a:solidFill>
            <a:srgbClr val="9184D9">
              <a:alpha val="24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4" name="Text 32"/>
          <p:cNvSpPr/>
          <p:nvPr/>
        </p:nvSpPr>
        <p:spPr>
          <a:xfrm>
            <a:off x="14246870" y="4997500"/>
            <a:ext cx="1872154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783"/>
              </a:lnSpc>
              <a:buNone/>
            </a:pPr>
            <a:r>
              <a:rPr lang="en-US" sz="2250" dirty="0">
                <a:solidFill>
                  <a:srgbClr val="F5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v2</a:t>
            </a:r>
            <a:endParaRPr lang="en-US" sz="2250" dirty="0"/>
          </a:p>
        </p:txBody>
      </p:sp>
      <p:sp>
        <p:nvSpPr>
          <p:cNvPr id="35" name="Text 33"/>
          <p:cNvSpPr/>
          <p:nvPr/>
        </p:nvSpPr>
        <p:spPr>
          <a:xfrm>
            <a:off x="14246870" y="5554712"/>
            <a:ext cx="156016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3538"/>
              </a:lnSpc>
              <a:buNone/>
            </a:pPr>
            <a:r>
              <a:rPr lang="en-US" sz="21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traffic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9725025" y="6644357"/>
            <a:ext cx="743654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9130"/>
              </a:lnSpc>
              <a:buNone/>
            </a:pPr>
            <a:r>
              <a:rPr lang="en-US" sz="22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tức thì: chuyển traffic về Blue.</a:t>
            </a:r>
            <a:endParaRPr lang="en-US" sz="2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720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490"/>
              </a:lnSpc>
              <a:buNone/>
            </a:pPr>
            <a:r>
              <a:rPr lang="en-US" sz="4800" kern="0" spc="-96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Hai loại IAM Role — đừng nhầm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1749549"/>
            <a:ext cx="180213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8D8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Role vs Execution Role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2696319"/>
            <a:ext cx="8001000" cy="4018583"/>
          </a:xfrm>
          <a:prstGeom prst="roundRect">
            <a:avLst>
              <a:gd name="adj" fmla="val 3792"/>
            </a:avLst>
          </a:prstGeom>
          <a:solidFill>
            <a:srgbClr val="232532">
              <a:alpha val="70000"/>
            </a:srgbClr>
          </a:solidFill>
          <a:ln w="9525">
            <a:solidFill>
              <a:srgbClr val="9184D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Text 3"/>
          <p:cNvSpPr/>
          <p:nvPr/>
        </p:nvSpPr>
        <p:spPr>
          <a:xfrm>
            <a:off x="1343025" y="3124944"/>
            <a:ext cx="794194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kern="0" spc="252" dirty="0">
                <a:solidFill>
                  <a:srgbClr val="B5AB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ROLE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43025" y="3728814"/>
            <a:ext cx="794194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30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Quyền cho code của bạn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343025" y="4700364"/>
            <a:ext cx="1774254" cy="747713"/>
          </a:xfrm>
          <a:prstGeom prst="roundRect">
            <a:avLst>
              <a:gd name="adj" fmla="val 11465"/>
            </a:avLst>
          </a:prstGeom>
          <a:solidFill>
            <a:srgbClr val="9184D9">
              <a:alpha val="2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8" name="Text 6"/>
          <p:cNvSpPr/>
          <p:nvPr/>
        </p:nvSpPr>
        <p:spPr>
          <a:xfrm>
            <a:off x="1628775" y="4852764"/>
            <a:ext cx="1366584" cy="481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3326829" y="5064696"/>
            <a:ext cx="381000" cy="19050"/>
          </a:xfrm>
          <a:prstGeom prst="rect">
            <a:avLst/>
          </a:prstGeom>
          <a:solidFill>
            <a:srgbClr val="9184D9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0" name="Shape 8"/>
          <p:cNvSpPr/>
          <p:nvPr/>
        </p:nvSpPr>
        <p:spPr>
          <a:xfrm>
            <a:off x="3917379" y="4700364"/>
            <a:ext cx="2512516" cy="747713"/>
          </a:xfrm>
          <a:prstGeom prst="roundRect">
            <a:avLst>
              <a:gd name="adj" fmla="val 11465"/>
            </a:avLst>
          </a:prstGeom>
          <a:solidFill>
            <a:srgbClr val="9184D9">
              <a:alpha val="2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1" name="Text 9"/>
          <p:cNvSpPr/>
          <p:nvPr/>
        </p:nvSpPr>
        <p:spPr>
          <a:xfrm>
            <a:off x="4203128" y="4852764"/>
            <a:ext cx="2104681" cy="481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· DynamoDB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343025" y="5829077"/>
            <a:ext cx="743654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9130"/>
              </a:lnSpc>
              <a:buNone/>
            </a:pPr>
            <a:r>
              <a:rPr lang="en-US" sz="22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 trong container gọi dịch vụ AWS bằng role này.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34500" y="2696319"/>
            <a:ext cx="8001000" cy="4018583"/>
          </a:xfrm>
          <a:prstGeom prst="roundRect">
            <a:avLst>
              <a:gd name="adj" fmla="val 3792"/>
            </a:avLst>
          </a:prstGeom>
          <a:solidFill>
            <a:srgbClr val="232532">
              <a:alpha val="70000"/>
            </a:srgbClr>
          </a:solidFill>
          <a:ln w="9525">
            <a:solidFill>
              <a:srgbClr val="4C539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Text 12"/>
          <p:cNvSpPr/>
          <p:nvPr/>
        </p:nvSpPr>
        <p:spPr>
          <a:xfrm>
            <a:off x="9725025" y="3124944"/>
            <a:ext cx="794194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kern="0" spc="252" dirty="0">
                <a:solidFill>
                  <a:srgbClr val="B5A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ROLE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725025" y="3728814"/>
            <a:ext cx="794194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30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Quyền cho chính ECS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725025" y="4700364"/>
            <a:ext cx="1905967" cy="747713"/>
          </a:xfrm>
          <a:prstGeom prst="roundRect">
            <a:avLst>
              <a:gd name="adj" fmla="val 11465"/>
            </a:avLst>
          </a:prstGeom>
          <a:solidFill>
            <a:srgbClr val="4C5397">
              <a:alpha val="26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7" name="Text 15"/>
          <p:cNvSpPr/>
          <p:nvPr/>
        </p:nvSpPr>
        <p:spPr>
          <a:xfrm>
            <a:off x="10010775" y="4852764"/>
            <a:ext cx="1498297" cy="481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ECS Agent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1840542" y="5064696"/>
            <a:ext cx="381000" cy="19050"/>
          </a:xfrm>
          <a:prstGeom prst="rect">
            <a:avLst/>
          </a:prstGeom>
          <a:solidFill>
            <a:srgbClr val="5C5783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9" name="Shape 17"/>
          <p:cNvSpPr/>
          <p:nvPr/>
        </p:nvSpPr>
        <p:spPr>
          <a:xfrm>
            <a:off x="12431092" y="4700364"/>
            <a:ext cx="2817242" cy="747713"/>
          </a:xfrm>
          <a:prstGeom prst="roundRect">
            <a:avLst>
              <a:gd name="adj" fmla="val 11465"/>
            </a:avLst>
          </a:prstGeom>
          <a:solidFill>
            <a:srgbClr val="4C5397">
              <a:alpha val="26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0" name="Text 18"/>
          <p:cNvSpPr/>
          <p:nvPr/>
        </p:nvSpPr>
        <p:spPr>
          <a:xfrm>
            <a:off x="12716842" y="4852764"/>
            <a:ext cx="2531492" cy="481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ECR · CloudWatch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725025" y="5829077"/>
            <a:ext cx="743654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9130"/>
              </a:lnSpc>
              <a:buNone/>
            </a:pPr>
            <a:r>
              <a:rPr lang="en-US" sz="22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ECS dùng role này để pull image và ghi log.</a:t>
            </a:r>
            <a:endParaRPr lang="en-US" sz="2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62A60">
                  <a:alpha val="100000"/>
                </a:srgbClr>
              </a:gs>
              <a:gs pos="55000">
                <a:srgbClr val="353B80">
                  <a:alpha val="100000"/>
                </a:srgbClr>
              </a:gs>
              <a:gs pos="100000">
                <a:srgbClr val="262A60">
                  <a:alpha val="100000"/>
                </a:srgbClr>
              </a:gs>
            </a:gsLst>
            <a:lin ang="3600000" scaled="0"/>
          </a:gradFill>
          <a:ln/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952500" y="3828306"/>
            <a:ext cx="180213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kern="0" spc="420" dirty="0">
                <a:solidFill>
                  <a:srgbClr val="B5A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2 / PART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4622676"/>
            <a:ext cx="18021300" cy="976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545"/>
              </a:lnSpc>
              <a:buNone/>
            </a:pPr>
            <a:r>
              <a:rPr lang="en-US" sz="6600" kern="0" spc="-165" dirty="0">
                <a:solidFill>
                  <a:srgbClr val="F5F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 EKS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52500" y="5809059"/>
            <a:ext cx="18021300" cy="68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725"/>
              </a:lnSpc>
              <a:buNone/>
            </a:pPr>
            <a:r>
              <a:rPr lang="en-US" sz="33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do AWS quản lý</a:t>
            </a:r>
            <a:endParaRPr lang="en-US" sz="3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720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490"/>
              </a:lnSpc>
              <a:buNone/>
            </a:pPr>
            <a:r>
              <a:rPr lang="en-US" sz="4800" kern="0" spc="-96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EKS chia trách nhiệm thế nào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1749549"/>
            <a:ext cx="180213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8D8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 by AWS, worker nodes by you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2658219"/>
            <a:ext cx="8001000" cy="5372100"/>
          </a:xfrm>
          <a:prstGeom prst="roundRect">
            <a:avLst>
              <a:gd name="adj" fmla="val 2837"/>
            </a:avLst>
          </a:prstGeom>
          <a:gradFill rotWithShape="1">
            <a:gsLst>
              <a:gs pos="0">
                <a:srgbClr val="262A60">
                  <a:alpha val="72000"/>
                </a:srgbClr>
              </a:gs>
              <a:gs pos="100000">
                <a:srgbClr val="232532">
                  <a:alpha val="85000"/>
                </a:srgbClr>
              </a:gs>
            </a:gsLst>
            <a:lin ang="4200000" scaled="0"/>
          </a:gradFill>
          <a:ln w="9525">
            <a:solidFill>
              <a:srgbClr val="4C539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Text 3"/>
          <p:cNvSpPr/>
          <p:nvPr/>
        </p:nvSpPr>
        <p:spPr>
          <a:xfrm>
            <a:off x="1343025" y="3086844"/>
            <a:ext cx="246720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30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601718" y="3128739"/>
            <a:ext cx="1961257" cy="506685"/>
          </a:xfrm>
          <a:prstGeom prst="roundRect">
            <a:avLst>
              <a:gd name="adj" fmla="val 50000"/>
            </a:avLst>
          </a:prstGeom>
          <a:solidFill>
            <a:srgbClr val="9184D9">
              <a:alpha val="3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7" name="Text 5"/>
          <p:cNvSpPr/>
          <p:nvPr/>
        </p:nvSpPr>
        <p:spPr>
          <a:xfrm>
            <a:off x="6773168" y="3204939"/>
            <a:ext cx="1694557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kern="0" spc="108" dirty="0">
                <a:solidFill>
                  <a:srgbClr val="F5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QUẢN LÝ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43025" y="4001244"/>
            <a:ext cx="7219950" cy="785813"/>
          </a:xfrm>
          <a:prstGeom prst="roundRect">
            <a:avLst>
              <a:gd name="adj" fmla="val 10909"/>
            </a:avLst>
          </a:prstGeom>
          <a:solidFill>
            <a:srgbClr val="0F111C">
              <a:alpha val="6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9" name="Text 7"/>
          <p:cNvSpPr/>
          <p:nvPr/>
        </p:nvSpPr>
        <p:spPr>
          <a:xfrm>
            <a:off x="1571625" y="4172694"/>
            <a:ext cx="6979349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 — cửa vào của kubectl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343025" y="4939457"/>
            <a:ext cx="7219950" cy="785813"/>
          </a:xfrm>
          <a:prstGeom prst="roundRect">
            <a:avLst>
              <a:gd name="adj" fmla="val 10909"/>
            </a:avLst>
          </a:prstGeom>
          <a:solidFill>
            <a:srgbClr val="0F111C">
              <a:alpha val="6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1" name="Text 9"/>
          <p:cNvSpPr/>
          <p:nvPr/>
        </p:nvSpPr>
        <p:spPr>
          <a:xfrm>
            <a:off x="1571625" y="5110907"/>
            <a:ext cx="6979349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— chọn Node cho Pod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343025" y="5877669"/>
            <a:ext cx="7219950" cy="785813"/>
          </a:xfrm>
          <a:prstGeom prst="roundRect">
            <a:avLst>
              <a:gd name="adj" fmla="val 10909"/>
            </a:avLst>
          </a:prstGeom>
          <a:solidFill>
            <a:srgbClr val="0F111C">
              <a:alpha val="6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3" name="Text 11"/>
          <p:cNvSpPr/>
          <p:nvPr/>
        </p:nvSpPr>
        <p:spPr>
          <a:xfrm>
            <a:off x="1571625" y="6049119"/>
            <a:ext cx="6979349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— giữ trạng thái mong muốn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343025" y="6815882"/>
            <a:ext cx="7219950" cy="785813"/>
          </a:xfrm>
          <a:prstGeom prst="roundRect">
            <a:avLst>
              <a:gd name="adj" fmla="val 10909"/>
            </a:avLst>
          </a:prstGeom>
          <a:solidFill>
            <a:srgbClr val="0F111C">
              <a:alpha val="6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5" name="Text 13"/>
          <p:cNvSpPr/>
          <p:nvPr/>
        </p:nvSpPr>
        <p:spPr>
          <a:xfrm>
            <a:off x="1571625" y="6987332"/>
            <a:ext cx="6979349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— cơ sở dữ liệu cluster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334500" y="2658219"/>
            <a:ext cx="8001000" cy="5372100"/>
          </a:xfrm>
          <a:prstGeom prst="roundRect">
            <a:avLst>
              <a:gd name="adj" fmla="val 2837"/>
            </a:avLst>
          </a:prstGeom>
          <a:solidFill>
            <a:srgbClr val="232532">
              <a:alpha val="70000"/>
            </a:srgbClr>
          </a:solidFill>
          <a:ln w="9525">
            <a:solidFill>
              <a:srgbClr val="E9E9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Text 15"/>
          <p:cNvSpPr/>
          <p:nvPr/>
        </p:nvSpPr>
        <p:spPr>
          <a:xfrm>
            <a:off x="9725025" y="3086844"/>
            <a:ext cx="260873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30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Nodes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15017948" y="3128739"/>
            <a:ext cx="1927027" cy="506685"/>
          </a:xfrm>
          <a:prstGeom prst="roundRect">
            <a:avLst>
              <a:gd name="adj" fmla="val 50000"/>
            </a:avLst>
          </a:prstGeom>
          <a:solidFill>
            <a:srgbClr val="E9E9ED">
              <a:alpha val="1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9" name="Text 17"/>
          <p:cNvSpPr/>
          <p:nvPr/>
        </p:nvSpPr>
        <p:spPr>
          <a:xfrm>
            <a:off x="15189398" y="3204939"/>
            <a:ext cx="1660327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273"/>
              </a:lnSpc>
              <a:buNone/>
            </a:pPr>
            <a:r>
              <a:rPr lang="en-US" sz="1800" kern="0" spc="108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BẠN QUẢN LÝ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725025" y="4001244"/>
            <a:ext cx="7219950" cy="785813"/>
          </a:xfrm>
          <a:prstGeom prst="roundRect">
            <a:avLst>
              <a:gd name="adj" fmla="val 10909"/>
            </a:avLst>
          </a:prstGeom>
          <a:solidFill>
            <a:srgbClr val="0F111C">
              <a:alpha val="6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1" name="Text 19"/>
          <p:cNvSpPr/>
          <p:nvPr/>
        </p:nvSpPr>
        <p:spPr>
          <a:xfrm>
            <a:off x="9953625" y="4172694"/>
            <a:ext cx="6979349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EC2 — máy chạy kubelet và container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725025" y="4939457"/>
            <a:ext cx="7219950" cy="785813"/>
          </a:xfrm>
          <a:prstGeom prst="roundRect">
            <a:avLst>
              <a:gd name="adj" fmla="val 10909"/>
            </a:avLst>
          </a:prstGeom>
          <a:solidFill>
            <a:srgbClr val="0F111C">
              <a:alpha val="6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3" name="Text 21"/>
          <p:cNvSpPr/>
          <p:nvPr/>
        </p:nvSpPr>
        <p:spPr>
          <a:xfrm>
            <a:off x="9953625" y="5110907"/>
            <a:ext cx="6979349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Node Group — AWS lo ASG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9725025" y="5877669"/>
            <a:ext cx="7219950" cy="785813"/>
          </a:xfrm>
          <a:prstGeom prst="roundRect">
            <a:avLst>
              <a:gd name="adj" fmla="val 10909"/>
            </a:avLst>
          </a:prstGeom>
          <a:solidFill>
            <a:srgbClr val="0F111C">
              <a:alpha val="6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5" name="Text 23"/>
          <p:cNvSpPr/>
          <p:nvPr/>
        </p:nvSpPr>
        <p:spPr>
          <a:xfrm>
            <a:off x="9953625" y="6049119"/>
            <a:ext cx="6979349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Fargate — không có EC2 nào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9725025" y="6987332"/>
            <a:ext cx="743654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9130"/>
              </a:lnSpc>
              <a:buNone/>
            </a:pPr>
            <a:r>
              <a:rPr lang="en-US" sz="22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Bạn chọn mức tự quản lý phù hợp với đội mình.</a:t>
            </a:r>
            <a:endParaRPr lang="en-US" sz="2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720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490"/>
              </a:lnSpc>
              <a:buNone/>
            </a:pPr>
            <a:r>
              <a:rPr lang="en-US" sz="4800" kern="0" spc="-96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Pod, ReplicaSet, Deployment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1749549"/>
            <a:ext cx="180213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8D8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nested layers — you only write the top one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254698" y="2821558"/>
            <a:ext cx="2465189" cy="863873"/>
          </a:xfrm>
          <a:prstGeom prst="roundRect">
            <a:avLst>
              <a:gd name="adj" fmla="val 11026"/>
            </a:avLst>
          </a:prstGeom>
          <a:solidFill>
            <a:srgbClr val="9184D9">
              <a:alpha val="26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Text 3"/>
          <p:cNvSpPr/>
          <p:nvPr/>
        </p:nvSpPr>
        <p:spPr>
          <a:xfrm>
            <a:off x="4645223" y="3002533"/>
            <a:ext cx="1760339" cy="54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28"/>
              </a:lnSpc>
              <a:buNone/>
            </a:pPr>
            <a:r>
              <a:rPr lang="en-US" sz="2550" dirty="0">
                <a:solidFill>
                  <a:srgbClr val="F5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477768" y="3837831"/>
            <a:ext cx="19050" cy="266700"/>
          </a:xfrm>
          <a:prstGeom prst="rect">
            <a:avLst/>
          </a:prstGeom>
          <a:solidFill>
            <a:srgbClr val="9184D9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7" name="Shape 5"/>
          <p:cNvSpPr/>
          <p:nvPr/>
        </p:nvSpPr>
        <p:spPr>
          <a:xfrm>
            <a:off x="3375273" y="4256931"/>
            <a:ext cx="4224114" cy="844823"/>
          </a:xfrm>
          <a:prstGeom prst="roundRect">
            <a:avLst>
              <a:gd name="adj" fmla="val 11275"/>
            </a:avLst>
          </a:prstGeom>
          <a:solidFill>
            <a:srgbClr val="9184D9">
              <a:alpha val="16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8" name="Text 6"/>
          <p:cNvSpPr/>
          <p:nvPr/>
        </p:nvSpPr>
        <p:spPr>
          <a:xfrm>
            <a:off x="3756273" y="4428381"/>
            <a:ext cx="3588838" cy="54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28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ReplicaSet — desired = 3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5477768" y="5254154"/>
            <a:ext cx="19050" cy="266700"/>
          </a:xfrm>
          <a:prstGeom prst="rect">
            <a:avLst/>
          </a:prstGeom>
          <a:solidFill>
            <a:srgbClr val="5D5294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0" name="Shape 8"/>
          <p:cNvSpPr/>
          <p:nvPr/>
        </p:nvSpPr>
        <p:spPr>
          <a:xfrm>
            <a:off x="1773659" y="5673254"/>
            <a:ext cx="2336081" cy="1427783"/>
          </a:xfrm>
          <a:prstGeom prst="roundRect">
            <a:avLst>
              <a:gd name="adj" fmla="val 6671"/>
            </a:avLst>
          </a:prstGeom>
          <a:solidFill>
            <a:srgbClr val="0F111C">
              <a:alpha val="75000"/>
            </a:srgbClr>
          </a:solidFill>
          <a:ln w="9525">
            <a:solidFill>
              <a:srgbClr val="9184D9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Text 9"/>
          <p:cNvSpPr/>
          <p:nvPr/>
        </p:nvSpPr>
        <p:spPr>
          <a:xfrm>
            <a:off x="1981658" y="5911379"/>
            <a:ext cx="1920084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783"/>
              </a:lnSpc>
              <a:buNone/>
            </a:pPr>
            <a:r>
              <a:rPr lang="en-US" sz="2250" dirty="0">
                <a:solidFill>
                  <a:srgbClr val="E7E5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1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981658" y="6449541"/>
            <a:ext cx="1920084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3538"/>
              </a:lnSpc>
              <a:buNone/>
            </a:pPr>
            <a:r>
              <a:rPr lang="en-US" sz="2100" dirty="0">
                <a:solidFill>
                  <a:srgbClr val="8D8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+ sidecar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4319290" y="5673254"/>
            <a:ext cx="2336081" cy="1427783"/>
          </a:xfrm>
          <a:prstGeom prst="roundRect">
            <a:avLst>
              <a:gd name="adj" fmla="val 6671"/>
            </a:avLst>
          </a:prstGeom>
          <a:solidFill>
            <a:srgbClr val="0F111C">
              <a:alpha val="75000"/>
            </a:srgbClr>
          </a:solidFill>
          <a:ln w="9525">
            <a:solidFill>
              <a:srgbClr val="9184D9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Text 12"/>
          <p:cNvSpPr/>
          <p:nvPr/>
        </p:nvSpPr>
        <p:spPr>
          <a:xfrm>
            <a:off x="4527288" y="5911379"/>
            <a:ext cx="1920084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783"/>
              </a:lnSpc>
              <a:buNone/>
            </a:pPr>
            <a:r>
              <a:rPr lang="en-US" sz="2250" dirty="0">
                <a:solidFill>
                  <a:srgbClr val="E7E5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2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4527288" y="6449541"/>
            <a:ext cx="1920084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3538"/>
              </a:lnSpc>
              <a:buNone/>
            </a:pPr>
            <a:r>
              <a:rPr lang="en-US" sz="2100" dirty="0">
                <a:solidFill>
                  <a:srgbClr val="8D8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+ sidecar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864921" y="5673254"/>
            <a:ext cx="2336081" cy="1427783"/>
          </a:xfrm>
          <a:prstGeom prst="roundRect">
            <a:avLst>
              <a:gd name="adj" fmla="val 6671"/>
            </a:avLst>
          </a:prstGeom>
          <a:solidFill>
            <a:srgbClr val="0F111C">
              <a:alpha val="75000"/>
            </a:srgbClr>
          </a:solidFill>
          <a:ln w="9525">
            <a:solidFill>
              <a:srgbClr val="9184D9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Text 15"/>
          <p:cNvSpPr/>
          <p:nvPr/>
        </p:nvSpPr>
        <p:spPr>
          <a:xfrm>
            <a:off x="7072919" y="5911379"/>
            <a:ext cx="1920084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783"/>
              </a:lnSpc>
              <a:buNone/>
            </a:pPr>
            <a:r>
              <a:rPr lang="en-US" sz="2250" dirty="0">
                <a:solidFill>
                  <a:srgbClr val="E7E5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3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7072919" y="6449541"/>
            <a:ext cx="1920084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3538"/>
              </a:lnSpc>
              <a:buNone/>
            </a:pPr>
            <a:r>
              <a:rPr lang="en-US" sz="2100" dirty="0">
                <a:solidFill>
                  <a:srgbClr val="8D8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+ sidecar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0631760" y="2582019"/>
            <a:ext cx="6703740" cy="4758630"/>
          </a:xfrm>
          <a:prstGeom prst="roundRect">
            <a:avLst>
              <a:gd name="adj" fmla="val 3203"/>
            </a:avLst>
          </a:prstGeom>
          <a:solidFill>
            <a:srgbClr val="232532">
              <a:alpha val="70000"/>
            </a:srgbClr>
          </a:solidFill>
          <a:ln w="9525">
            <a:solidFill>
              <a:srgbClr val="E9E9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0" name="Text 18"/>
          <p:cNvSpPr/>
          <p:nvPr/>
        </p:nvSpPr>
        <p:spPr>
          <a:xfrm>
            <a:off x="10984185" y="2972544"/>
            <a:ext cx="659877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30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&amp; Ingress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0984185" y="3753594"/>
            <a:ext cx="617885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9130"/>
              </a:lnSpc>
              <a:buNone/>
            </a:pPr>
            <a:r>
              <a:rPr lang="en-US" sz="22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có IP thay đổi liên tục. Service là địa chỉ ổn định; Ingress định tuyến HTTP.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0984185" y="4953744"/>
            <a:ext cx="6598779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A8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ClusterIP — chỉ trong cluster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0984185" y="5481414"/>
            <a:ext cx="6598779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A8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NodePort — mở port trên Node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0984185" y="6009084"/>
            <a:ext cx="6598779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A8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LoadBalancer — tạo NLB/ALB thật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984185" y="6536754"/>
            <a:ext cx="6598779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A8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ExternalName — trỏ DNS bên ngoài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720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490"/>
              </a:lnSpc>
              <a:buNone/>
            </a:pPr>
            <a:r>
              <a:rPr lang="en-US" sz="4800" kern="0" spc="-96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Namespace, cấu hình và lưu trữ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1749549"/>
            <a:ext cx="180213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8D8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 · ConfigMap · Secret · Persistent Volume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2696319"/>
            <a:ext cx="3895725" cy="4046116"/>
          </a:xfrm>
          <a:prstGeom prst="roundRect">
            <a:avLst>
              <a:gd name="adj" fmla="val 3423"/>
            </a:avLst>
          </a:prstGeom>
          <a:solidFill>
            <a:srgbClr val="232532">
              <a:alpha val="70000"/>
            </a:srgbClr>
          </a:solidFill>
          <a:ln w="9525">
            <a:solidFill>
              <a:srgbClr val="E9E9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Text 3"/>
          <p:cNvSpPr/>
          <p:nvPr/>
        </p:nvSpPr>
        <p:spPr>
          <a:xfrm>
            <a:off x="1266825" y="3086844"/>
            <a:ext cx="3593783" cy="569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98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66825" y="3789759"/>
            <a:ext cx="3365087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846"/>
              </a:lnSpc>
              <a:buNone/>
            </a:pPr>
            <a:r>
              <a:rPr lang="en-US" sz="210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Chia một cluster thành nhiều vùng riêng.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266825" y="4890790"/>
            <a:ext cx="723602" cy="565770"/>
          </a:xfrm>
          <a:prstGeom prst="roundRect">
            <a:avLst>
              <a:gd name="adj" fmla="val 11785"/>
            </a:avLst>
          </a:prstGeom>
          <a:solidFill>
            <a:srgbClr val="9184D9">
              <a:alpha val="16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8" name="Text 6"/>
          <p:cNvSpPr/>
          <p:nvPr/>
        </p:nvSpPr>
        <p:spPr>
          <a:xfrm>
            <a:off x="1419225" y="4966990"/>
            <a:ext cx="495002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2085677" y="4890790"/>
            <a:ext cx="736922" cy="565770"/>
          </a:xfrm>
          <a:prstGeom prst="roundRect">
            <a:avLst>
              <a:gd name="adj" fmla="val 11785"/>
            </a:avLst>
          </a:prstGeom>
          <a:solidFill>
            <a:srgbClr val="9184D9">
              <a:alpha val="16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0" name="Text 8"/>
          <p:cNvSpPr/>
          <p:nvPr/>
        </p:nvSpPr>
        <p:spPr>
          <a:xfrm>
            <a:off x="2238077" y="4966990"/>
            <a:ext cx="508322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2917850" y="4890790"/>
            <a:ext cx="830833" cy="565770"/>
          </a:xfrm>
          <a:prstGeom prst="roundRect">
            <a:avLst>
              <a:gd name="adj" fmla="val 11785"/>
            </a:avLst>
          </a:prstGeom>
          <a:solidFill>
            <a:srgbClr val="9184D9">
              <a:alpha val="16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2" name="Text 10"/>
          <p:cNvSpPr/>
          <p:nvPr/>
        </p:nvSpPr>
        <p:spPr>
          <a:xfrm>
            <a:off x="3070250" y="4966990"/>
            <a:ext cx="602233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114925" y="2696319"/>
            <a:ext cx="3895725" cy="4046116"/>
          </a:xfrm>
          <a:prstGeom prst="roundRect">
            <a:avLst>
              <a:gd name="adj" fmla="val 3423"/>
            </a:avLst>
          </a:prstGeom>
          <a:solidFill>
            <a:srgbClr val="232532">
              <a:alpha val="70000"/>
            </a:srgbClr>
          </a:solidFill>
          <a:ln w="9525">
            <a:solidFill>
              <a:srgbClr val="E9E9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Text 12"/>
          <p:cNvSpPr/>
          <p:nvPr/>
        </p:nvSpPr>
        <p:spPr>
          <a:xfrm>
            <a:off x="5429250" y="3086844"/>
            <a:ext cx="3593783" cy="569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98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5429250" y="3789759"/>
            <a:ext cx="3365087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846"/>
              </a:lnSpc>
              <a:buNone/>
            </a:pPr>
            <a:r>
              <a:rPr lang="en-US" sz="210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hình không bí mật, tách khỏi image.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429250" y="4890790"/>
            <a:ext cx="3365087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216"/>
              </a:lnSpc>
              <a:buNone/>
            </a:pPr>
            <a:r>
              <a:rPr lang="en-US" sz="2100" dirty="0">
                <a:solidFill>
                  <a:srgbClr val="C3C3C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DATABASE_HOST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429250" y="5370835"/>
            <a:ext cx="3365087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216"/>
              </a:lnSpc>
              <a:buNone/>
            </a:pPr>
            <a:r>
              <a:rPr lang="en-US" sz="2100" dirty="0">
                <a:solidFill>
                  <a:srgbClr val="C3C3C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REDIS_HOST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429250" y="5850880"/>
            <a:ext cx="3365087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216"/>
              </a:lnSpc>
              <a:buNone/>
            </a:pPr>
            <a:r>
              <a:rPr lang="en-US" sz="2100" dirty="0">
                <a:solidFill>
                  <a:srgbClr val="C3C3C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API_URL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277350" y="2696319"/>
            <a:ext cx="3895725" cy="4046116"/>
          </a:xfrm>
          <a:prstGeom prst="roundRect">
            <a:avLst>
              <a:gd name="adj" fmla="val 3423"/>
            </a:avLst>
          </a:prstGeom>
          <a:solidFill>
            <a:srgbClr val="232532">
              <a:alpha val="70000"/>
            </a:srgbClr>
          </a:solidFill>
          <a:ln w="9525">
            <a:solidFill>
              <a:srgbClr val="E9E9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0" name="Text 18"/>
          <p:cNvSpPr/>
          <p:nvPr/>
        </p:nvSpPr>
        <p:spPr>
          <a:xfrm>
            <a:off x="9591675" y="3086844"/>
            <a:ext cx="3593783" cy="569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98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9591675" y="3789759"/>
            <a:ext cx="3365087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846"/>
              </a:lnSpc>
              <a:buNone/>
            </a:pPr>
            <a:r>
              <a:rPr lang="en-US" sz="210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bí mật, nên mã hoá bằng KMS.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591675" y="4890790"/>
            <a:ext cx="3365087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216"/>
              </a:lnSpc>
              <a:buNone/>
            </a:pPr>
            <a:r>
              <a:rPr lang="en-US" sz="2100" dirty="0">
                <a:solidFill>
                  <a:srgbClr val="C3C3C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DB_PASSWORD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591675" y="5370835"/>
            <a:ext cx="3365087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216"/>
              </a:lnSpc>
              <a:buNone/>
            </a:pPr>
            <a:r>
              <a:rPr lang="en-US" sz="2100" dirty="0">
                <a:solidFill>
                  <a:srgbClr val="C3C3C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JWT_TOKEN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591675" y="5850880"/>
            <a:ext cx="3365087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216"/>
              </a:lnSpc>
              <a:buNone/>
            </a:pPr>
            <a:r>
              <a:rPr lang="en-US" sz="2100" dirty="0">
                <a:solidFill>
                  <a:srgbClr val="C3C3C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API_KEY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3439775" y="2696319"/>
            <a:ext cx="3895725" cy="4046116"/>
          </a:xfrm>
          <a:prstGeom prst="roundRect">
            <a:avLst>
              <a:gd name="adj" fmla="val 3423"/>
            </a:avLst>
          </a:prstGeom>
          <a:gradFill rotWithShape="1">
            <a:gsLst>
              <a:gs pos="0">
                <a:srgbClr val="423A6A">
                  <a:alpha val="55000"/>
                </a:srgbClr>
              </a:gs>
              <a:gs pos="100000">
                <a:srgbClr val="232532">
                  <a:alpha val="85000"/>
                </a:srgbClr>
              </a:gs>
            </a:gsLst>
            <a:lin ang="4200000" scaled="0"/>
          </a:gradFill>
          <a:ln w="9525">
            <a:solidFill>
              <a:srgbClr val="9184D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6" name="Text 24"/>
          <p:cNvSpPr/>
          <p:nvPr/>
        </p:nvSpPr>
        <p:spPr>
          <a:xfrm>
            <a:off x="13754100" y="3086844"/>
            <a:ext cx="3593783" cy="569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98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Volume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13754100" y="3789759"/>
            <a:ext cx="3593783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846"/>
              </a:lnSpc>
              <a:buNone/>
            </a:pPr>
            <a:r>
              <a:rPr lang="en-US" sz="2100" dirty="0">
                <a:solidFill>
                  <a:srgbClr val="C3C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tồn tại lâu hơn Pod.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3754100" y="4464100"/>
            <a:ext cx="3267075" cy="565770"/>
          </a:xfrm>
          <a:prstGeom prst="roundRect">
            <a:avLst>
              <a:gd name="adj" fmla="val 11785"/>
            </a:avLst>
          </a:prstGeom>
          <a:solidFill>
            <a:srgbClr val="9184D9">
              <a:alpha val="16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9" name="Text 27"/>
          <p:cNvSpPr/>
          <p:nvPr/>
        </p:nvSpPr>
        <p:spPr>
          <a:xfrm>
            <a:off x="13906500" y="4540300"/>
            <a:ext cx="3060287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EBS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13754100" y="5125120"/>
            <a:ext cx="3267075" cy="565770"/>
          </a:xfrm>
          <a:prstGeom prst="roundRect">
            <a:avLst>
              <a:gd name="adj" fmla="val 11785"/>
            </a:avLst>
          </a:prstGeom>
          <a:solidFill>
            <a:srgbClr val="9184D9">
              <a:alpha val="16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1" name="Text 29"/>
          <p:cNvSpPr/>
          <p:nvPr/>
        </p:nvSpPr>
        <p:spPr>
          <a:xfrm>
            <a:off x="13906500" y="5201320"/>
            <a:ext cx="3060287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 → PVC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13754100" y="5786140"/>
            <a:ext cx="3267075" cy="565770"/>
          </a:xfrm>
          <a:prstGeom prst="roundRect">
            <a:avLst>
              <a:gd name="adj" fmla="val 11785"/>
            </a:avLst>
          </a:prstGeom>
          <a:solidFill>
            <a:srgbClr val="9184D9">
              <a:alpha val="16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3" name="Text 31"/>
          <p:cNvSpPr/>
          <p:nvPr/>
        </p:nvSpPr>
        <p:spPr>
          <a:xfrm>
            <a:off x="13906500" y="5862340"/>
            <a:ext cx="3060287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720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490"/>
              </a:lnSpc>
              <a:buNone/>
            </a:pPr>
            <a:r>
              <a:rPr lang="en-US" sz="4800" kern="0" spc="-96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Mạng, autoscaling và quan sát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1749549"/>
            <a:ext cx="180213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8D8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EKS in production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2696319"/>
            <a:ext cx="5257800" cy="5678760"/>
          </a:xfrm>
          <a:prstGeom prst="roundRect">
            <a:avLst>
              <a:gd name="adj" fmla="val 2536"/>
            </a:avLst>
          </a:prstGeom>
          <a:solidFill>
            <a:srgbClr val="232532">
              <a:alpha val="70000"/>
            </a:srgbClr>
          </a:solidFill>
          <a:ln w="9525">
            <a:solidFill>
              <a:srgbClr val="E9E9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Text 3"/>
          <p:cNvSpPr/>
          <p:nvPr/>
        </p:nvSpPr>
        <p:spPr>
          <a:xfrm>
            <a:off x="1304925" y="3124944"/>
            <a:ext cx="500824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30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 CNI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04925" y="3905994"/>
            <a:ext cx="4689539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9130"/>
              </a:lnSpc>
              <a:buNone/>
            </a:pPr>
            <a:r>
              <a:rPr lang="en-US" sz="22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Pod nhận IP thật trong VPC — Security Group áp dụng như với EC2.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3128888" y="5144244"/>
            <a:ext cx="904949" cy="641970"/>
          </a:xfrm>
          <a:prstGeom prst="roundRect">
            <a:avLst>
              <a:gd name="adj" fmla="val 11870"/>
            </a:avLst>
          </a:prstGeom>
          <a:solidFill>
            <a:srgbClr val="9184D9">
              <a:alpha val="16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8" name="Text 6"/>
          <p:cNvSpPr/>
          <p:nvPr/>
        </p:nvSpPr>
        <p:spPr>
          <a:xfrm>
            <a:off x="3357488" y="5258544"/>
            <a:ext cx="523949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571875" y="5900514"/>
            <a:ext cx="19050" cy="209550"/>
          </a:xfrm>
          <a:prstGeom prst="rect">
            <a:avLst/>
          </a:prstGeom>
          <a:solidFill>
            <a:srgbClr val="5D5294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0" name="Shape 8"/>
          <p:cNvSpPr/>
          <p:nvPr/>
        </p:nvSpPr>
        <p:spPr>
          <a:xfrm>
            <a:off x="3150468" y="6224364"/>
            <a:ext cx="861864" cy="641970"/>
          </a:xfrm>
          <a:prstGeom prst="roundRect">
            <a:avLst>
              <a:gd name="adj" fmla="val 11870"/>
            </a:avLst>
          </a:prstGeom>
          <a:solidFill>
            <a:srgbClr val="9184D9">
              <a:alpha val="16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1" name="Text 9"/>
          <p:cNvSpPr/>
          <p:nvPr/>
        </p:nvSpPr>
        <p:spPr>
          <a:xfrm>
            <a:off x="3379068" y="6338664"/>
            <a:ext cx="480864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ENI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3571875" y="6980634"/>
            <a:ext cx="19050" cy="209550"/>
          </a:xfrm>
          <a:prstGeom prst="rect">
            <a:avLst/>
          </a:prstGeom>
          <a:solidFill>
            <a:srgbClr val="5D5294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3" name="Shape 11"/>
          <p:cNvSpPr/>
          <p:nvPr/>
        </p:nvSpPr>
        <p:spPr>
          <a:xfrm>
            <a:off x="2652638" y="7304484"/>
            <a:ext cx="1857524" cy="641970"/>
          </a:xfrm>
          <a:prstGeom prst="roundRect">
            <a:avLst>
              <a:gd name="adj" fmla="val 11870"/>
            </a:avLst>
          </a:prstGeom>
          <a:solidFill>
            <a:srgbClr val="9184D9">
              <a:alpha val="16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4" name="Text 12"/>
          <p:cNvSpPr/>
          <p:nvPr/>
        </p:nvSpPr>
        <p:spPr>
          <a:xfrm>
            <a:off x="2881238" y="7418784"/>
            <a:ext cx="1476524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 Subnet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6515100" y="2696319"/>
            <a:ext cx="5257800" cy="5678760"/>
          </a:xfrm>
          <a:prstGeom prst="roundRect">
            <a:avLst>
              <a:gd name="adj" fmla="val 2536"/>
            </a:avLst>
          </a:prstGeom>
          <a:gradFill rotWithShape="1">
            <a:gsLst>
              <a:gs pos="0">
                <a:srgbClr val="423A6A">
                  <a:alpha val="50000"/>
                </a:srgbClr>
              </a:gs>
              <a:gs pos="100000">
                <a:srgbClr val="232532">
                  <a:alpha val="85000"/>
                </a:srgbClr>
              </a:gs>
            </a:gsLst>
            <a:lin ang="4200000" scaled="0"/>
          </a:gradFill>
          <a:ln w="9525">
            <a:solidFill>
              <a:srgbClr val="9184D9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Text 14"/>
          <p:cNvSpPr/>
          <p:nvPr/>
        </p:nvSpPr>
        <p:spPr>
          <a:xfrm>
            <a:off x="6867525" y="3124944"/>
            <a:ext cx="500824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30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tầng autoscaling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867525" y="3982194"/>
            <a:ext cx="4552950" cy="1389683"/>
          </a:xfrm>
          <a:prstGeom prst="roundRect">
            <a:avLst>
              <a:gd name="adj" fmla="val 6854"/>
            </a:avLst>
          </a:prstGeom>
          <a:solidFill>
            <a:srgbClr val="0F111C">
              <a:alpha val="6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8" name="Text 16"/>
          <p:cNvSpPr/>
          <p:nvPr/>
        </p:nvSpPr>
        <p:spPr>
          <a:xfrm>
            <a:off x="7115175" y="4191744"/>
            <a:ext cx="446341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E7E5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HPA — thêm Pod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7115175" y="4748957"/>
            <a:ext cx="446341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Pods → 6 Pods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867525" y="5543327"/>
            <a:ext cx="4552950" cy="1389683"/>
          </a:xfrm>
          <a:prstGeom prst="roundRect">
            <a:avLst>
              <a:gd name="adj" fmla="val 6854"/>
            </a:avLst>
          </a:prstGeom>
          <a:solidFill>
            <a:srgbClr val="0F111C">
              <a:alpha val="6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1" name="Text 19"/>
          <p:cNvSpPr/>
          <p:nvPr/>
        </p:nvSpPr>
        <p:spPr>
          <a:xfrm>
            <a:off x="7115175" y="5752877"/>
            <a:ext cx="446341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E7E5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Karpenter — thêm Node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7115175" y="6310089"/>
            <a:ext cx="446341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Nodes → 4 Nodes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6867525" y="7180659"/>
            <a:ext cx="5008245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846"/>
              </a:lnSpc>
              <a:buNone/>
            </a:pPr>
            <a:r>
              <a:rPr lang="en-US" sz="2100" dirty="0">
                <a:solidFill>
                  <a:srgbClr val="C3C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hết chỗ đặt thì phải có Node mới.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2077700" y="2696319"/>
            <a:ext cx="5257800" cy="5678760"/>
          </a:xfrm>
          <a:prstGeom prst="roundRect">
            <a:avLst>
              <a:gd name="adj" fmla="val 2536"/>
            </a:avLst>
          </a:prstGeom>
          <a:solidFill>
            <a:srgbClr val="232532">
              <a:alpha val="70000"/>
            </a:srgbClr>
          </a:solidFill>
          <a:ln w="9525">
            <a:solidFill>
              <a:srgbClr val="E9E9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Text 23"/>
          <p:cNvSpPr/>
          <p:nvPr/>
        </p:nvSpPr>
        <p:spPr>
          <a:xfrm>
            <a:off x="12430125" y="3124944"/>
            <a:ext cx="500824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30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&amp; Monitoring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12430125" y="3982194"/>
            <a:ext cx="4552950" cy="785813"/>
          </a:xfrm>
          <a:prstGeom prst="roundRect">
            <a:avLst>
              <a:gd name="adj" fmla="val 10909"/>
            </a:avLst>
          </a:prstGeom>
          <a:solidFill>
            <a:srgbClr val="0F111C">
              <a:alpha val="6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7" name="Text 25"/>
          <p:cNvSpPr/>
          <p:nvPr/>
        </p:nvSpPr>
        <p:spPr>
          <a:xfrm>
            <a:off x="12658725" y="4153644"/>
            <a:ext cx="4232339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CloudWatch Logs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12430125" y="4920407"/>
            <a:ext cx="4552950" cy="785813"/>
          </a:xfrm>
          <a:prstGeom prst="roundRect">
            <a:avLst>
              <a:gd name="adj" fmla="val 10909"/>
            </a:avLst>
          </a:prstGeom>
          <a:solidFill>
            <a:srgbClr val="0F111C">
              <a:alpha val="6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9" name="Text 27"/>
          <p:cNvSpPr/>
          <p:nvPr/>
        </p:nvSpPr>
        <p:spPr>
          <a:xfrm>
            <a:off x="12658725" y="5091857"/>
            <a:ext cx="4232339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Fluent Bit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12430125" y="5858619"/>
            <a:ext cx="4552950" cy="785813"/>
          </a:xfrm>
          <a:prstGeom prst="roundRect">
            <a:avLst>
              <a:gd name="adj" fmla="val 10909"/>
            </a:avLst>
          </a:prstGeom>
          <a:solidFill>
            <a:srgbClr val="0F111C">
              <a:alpha val="6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1" name="Text 29"/>
          <p:cNvSpPr/>
          <p:nvPr/>
        </p:nvSpPr>
        <p:spPr>
          <a:xfrm>
            <a:off x="12658725" y="6030069"/>
            <a:ext cx="4232339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12430125" y="6796832"/>
            <a:ext cx="4552950" cy="785813"/>
          </a:xfrm>
          <a:prstGeom prst="roundRect">
            <a:avLst>
              <a:gd name="adj" fmla="val 10909"/>
            </a:avLst>
          </a:prstGeom>
          <a:solidFill>
            <a:srgbClr val="0F111C">
              <a:alpha val="6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3" name="Text 31"/>
          <p:cNvSpPr/>
          <p:nvPr/>
        </p:nvSpPr>
        <p:spPr>
          <a:xfrm>
            <a:off x="12658725" y="6968282"/>
            <a:ext cx="4232339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en-US" sz="2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720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490"/>
              </a:lnSpc>
              <a:buNone/>
            </a:pPr>
            <a:r>
              <a:rPr lang="en-US" sz="4800" kern="0" spc="-96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từ git push tới container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1749549"/>
            <a:ext cx="180213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8D8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typical CI/CD flow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2848719"/>
            <a:ext cx="1719188" cy="851520"/>
          </a:xfrm>
          <a:prstGeom prst="roundRect">
            <a:avLst>
              <a:gd name="adj" fmla="val 11186"/>
            </a:avLst>
          </a:prstGeom>
          <a:solidFill>
            <a:srgbClr val="9184D9">
              <a:alpha val="12000"/>
            </a:srgbClr>
          </a:solidFill>
          <a:ln w="9525">
            <a:solidFill>
              <a:srgbClr val="9184D9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Text 3"/>
          <p:cNvSpPr/>
          <p:nvPr/>
        </p:nvSpPr>
        <p:spPr>
          <a:xfrm>
            <a:off x="1228725" y="3067794"/>
            <a:ext cx="1242938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824088" y="3264917"/>
            <a:ext cx="285750" cy="19050"/>
          </a:xfrm>
          <a:prstGeom prst="rect">
            <a:avLst/>
          </a:prstGeom>
          <a:solidFill>
            <a:srgbClr val="5D5294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7" name="Shape 5"/>
          <p:cNvSpPr/>
          <p:nvPr/>
        </p:nvSpPr>
        <p:spPr>
          <a:xfrm>
            <a:off x="3262238" y="2848719"/>
            <a:ext cx="1372791" cy="851520"/>
          </a:xfrm>
          <a:prstGeom prst="roundRect">
            <a:avLst>
              <a:gd name="adj" fmla="val 11186"/>
            </a:avLst>
          </a:prstGeom>
          <a:solidFill>
            <a:srgbClr val="9184D9">
              <a:alpha val="12000"/>
            </a:srgbClr>
          </a:solidFill>
          <a:ln w="9525">
            <a:solidFill>
              <a:srgbClr val="9184D9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Text 6"/>
          <p:cNvSpPr/>
          <p:nvPr/>
        </p:nvSpPr>
        <p:spPr>
          <a:xfrm>
            <a:off x="3538463" y="3067794"/>
            <a:ext cx="896541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4787429" y="3264917"/>
            <a:ext cx="285750" cy="19050"/>
          </a:xfrm>
          <a:prstGeom prst="rect">
            <a:avLst/>
          </a:prstGeom>
          <a:solidFill>
            <a:srgbClr val="5D5294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0" name="Shape 8"/>
          <p:cNvSpPr/>
          <p:nvPr/>
        </p:nvSpPr>
        <p:spPr>
          <a:xfrm>
            <a:off x="5225579" y="2848719"/>
            <a:ext cx="2298502" cy="851520"/>
          </a:xfrm>
          <a:prstGeom prst="roundRect">
            <a:avLst>
              <a:gd name="adj" fmla="val 11186"/>
            </a:avLst>
          </a:prstGeom>
          <a:solidFill>
            <a:srgbClr val="9184D9">
              <a:alpha val="12000"/>
            </a:srgbClr>
          </a:solidFill>
          <a:ln w="9525">
            <a:solidFill>
              <a:srgbClr val="9184D9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Text 9"/>
          <p:cNvSpPr/>
          <p:nvPr/>
        </p:nvSpPr>
        <p:spPr>
          <a:xfrm>
            <a:off x="5501804" y="3067794"/>
            <a:ext cx="1822252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676480" y="3264917"/>
            <a:ext cx="285750" cy="19050"/>
          </a:xfrm>
          <a:prstGeom prst="rect">
            <a:avLst/>
          </a:prstGeom>
          <a:solidFill>
            <a:srgbClr val="5D5294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3" name="Shape 11"/>
          <p:cNvSpPr/>
          <p:nvPr/>
        </p:nvSpPr>
        <p:spPr>
          <a:xfrm>
            <a:off x="8114630" y="2848719"/>
            <a:ext cx="1897038" cy="851520"/>
          </a:xfrm>
          <a:prstGeom prst="roundRect">
            <a:avLst>
              <a:gd name="adj" fmla="val 11186"/>
            </a:avLst>
          </a:prstGeom>
          <a:solidFill>
            <a:srgbClr val="9184D9">
              <a:alpha val="20000"/>
            </a:srgbClr>
          </a:solidFill>
          <a:ln w="9525">
            <a:solidFill>
              <a:srgbClr val="9184D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Text 12"/>
          <p:cNvSpPr/>
          <p:nvPr/>
        </p:nvSpPr>
        <p:spPr>
          <a:xfrm>
            <a:off x="8390855" y="3067794"/>
            <a:ext cx="1420788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Image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0164068" y="3264917"/>
            <a:ext cx="285750" cy="19050"/>
          </a:xfrm>
          <a:prstGeom prst="rect">
            <a:avLst/>
          </a:prstGeom>
          <a:solidFill>
            <a:srgbClr val="9184D9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6" name="Shape 14"/>
          <p:cNvSpPr/>
          <p:nvPr/>
        </p:nvSpPr>
        <p:spPr>
          <a:xfrm>
            <a:off x="10602218" y="2848719"/>
            <a:ext cx="2051521" cy="851520"/>
          </a:xfrm>
          <a:prstGeom prst="roundRect">
            <a:avLst>
              <a:gd name="adj" fmla="val 11186"/>
            </a:avLst>
          </a:prstGeom>
          <a:solidFill>
            <a:srgbClr val="9184D9">
              <a:alpha val="20000"/>
            </a:srgbClr>
          </a:solidFill>
          <a:ln w="9525">
            <a:solidFill>
              <a:srgbClr val="9184D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Text 15"/>
          <p:cNvSpPr/>
          <p:nvPr/>
        </p:nvSpPr>
        <p:spPr>
          <a:xfrm>
            <a:off x="10878443" y="3067794"/>
            <a:ext cx="1575271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ECR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2806139" y="3264917"/>
            <a:ext cx="285750" cy="19050"/>
          </a:xfrm>
          <a:prstGeom prst="rect">
            <a:avLst/>
          </a:prstGeom>
          <a:solidFill>
            <a:srgbClr val="9184D9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9" name="Shape 17"/>
          <p:cNvSpPr/>
          <p:nvPr/>
        </p:nvSpPr>
        <p:spPr>
          <a:xfrm>
            <a:off x="13244289" y="2848719"/>
            <a:ext cx="2588121" cy="851520"/>
          </a:xfrm>
          <a:prstGeom prst="roundRect">
            <a:avLst>
              <a:gd name="adj" fmla="val 11186"/>
            </a:avLst>
          </a:prstGeom>
          <a:solidFill>
            <a:srgbClr val="9184D9">
              <a:alpha val="32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0" name="Text 18"/>
          <p:cNvSpPr/>
          <p:nvPr/>
        </p:nvSpPr>
        <p:spPr>
          <a:xfrm>
            <a:off x="13520514" y="3067794"/>
            <a:ext cx="211331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F5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ECS / EKS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52500" y="4309839"/>
            <a:ext cx="14969365" cy="1106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3846"/>
              </a:lnSpc>
              <a:buNone/>
            </a:pPr>
            <a:r>
              <a:rPr lang="en-US" sz="25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merge vào nhánh main; Actions build image tag app:1.4.2, đẩy lên ECR, rồi cập nhật ECS Service. Rolling update thay Task cũ trong hai phút, người dùng không thấy downtime.</a:t>
            </a:r>
            <a:endParaRPr lang="en-US" sz="2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720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490"/>
              </a:lnSpc>
              <a:buNone/>
            </a:pPr>
            <a:r>
              <a:rPr lang="en-US" sz="4800" kern="0" spc="-96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ECS hay EKS — chọn thế nào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1749549"/>
            <a:ext cx="180213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8D8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by side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3404964"/>
            <a:ext cx="7438132" cy="19050"/>
          </a:xfrm>
          <a:prstGeom prst="rect">
            <a:avLst/>
          </a:prstGeom>
          <a:solidFill>
            <a:srgbClr val="9184D9">
              <a:alpha val="45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5" name="Text 3"/>
          <p:cNvSpPr/>
          <p:nvPr/>
        </p:nvSpPr>
        <p:spPr>
          <a:xfrm>
            <a:off x="1104900" y="2810619"/>
            <a:ext cx="7356476" cy="4419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kern="0" spc="126" dirty="0">
                <a:solidFill>
                  <a:srgbClr val="969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390632" y="3404964"/>
            <a:ext cx="4876279" cy="19050"/>
          </a:xfrm>
          <a:prstGeom prst="rect">
            <a:avLst/>
          </a:prstGeom>
          <a:solidFill>
            <a:srgbClr val="9184D9">
              <a:alpha val="45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7" name="Text 5"/>
          <p:cNvSpPr/>
          <p:nvPr/>
        </p:nvSpPr>
        <p:spPr>
          <a:xfrm>
            <a:off x="8543032" y="2810619"/>
            <a:ext cx="4717767" cy="4419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kern="0" spc="126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3266911" y="3404964"/>
            <a:ext cx="4068589" cy="19050"/>
          </a:xfrm>
          <a:prstGeom prst="rect">
            <a:avLst/>
          </a:prstGeom>
          <a:solidFill>
            <a:srgbClr val="9184D9">
              <a:alpha val="45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9" name="Text 7"/>
          <p:cNvSpPr/>
          <p:nvPr/>
        </p:nvSpPr>
        <p:spPr>
          <a:xfrm>
            <a:off x="13419311" y="2810619"/>
            <a:ext cx="3885847" cy="4419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kern="0" spc="126" dirty="0">
                <a:solidFill>
                  <a:srgbClr val="B5A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52500" y="4290789"/>
            <a:ext cx="7438132" cy="9525"/>
          </a:xfrm>
          <a:prstGeom prst="rect">
            <a:avLst/>
          </a:prstGeom>
          <a:solidFill>
            <a:srgbClr val="E9E9ED">
              <a:alpha val="1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1" name="Text 9"/>
          <p:cNvSpPr/>
          <p:nvPr/>
        </p:nvSpPr>
        <p:spPr>
          <a:xfrm>
            <a:off x="1104900" y="3633564"/>
            <a:ext cx="7356476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A8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 phức tạp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8390632" y="4290789"/>
            <a:ext cx="4876279" cy="9525"/>
          </a:xfrm>
          <a:prstGeom prst="rect">
            <a:avLst/>
          </a:prstGeom>
          <a:solidFill>
            <a:srgbClr val="E9E9ED">
              <a:alpha val="1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3" name="Text 11"/>
          <p:cNvSpPr/>
          <p:nvPr/>
        </p:nvSpPr>
        <p:spPr>
          <a:xfrm>
            <a:off x="8543032" y="3633564"/>
            <a:ext cx="471776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Thấp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3266911" y="4290789"/>
            <a:ext cx="4068589" cy="9525"/>
          </a:xfrm>
          <a:prstGeom prst="rect">
            <a:avLst/>
          </a:prstGeom>
          <a:solidFill>
            <a:srgbClr val="E9E9ED">
              <a:alpha val="1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5" name="Text 13"/>
          <p:cNvSpPr/>
          <p:nvPr/>
        </p:nvSpPr>
        <p:spPr>
          <a:xfrm>
            <a:off x="13419311" y="3633564"/>
            <a:ext cx="388584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Cao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52500" y="5162327"/>
            <a:ext cx="7438132" cy="9525"/>
          </a:xfrm>
          <a:prstGeom prst="rect">
            <a:avLst/>
          </a:prstGeom>
          <a:solidFill>
            <a:srgbClr val="E9E9ED">
              <a:alpha val="1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7" name="Text 15"/>
          <p:cNvSpPr/>
          <p:nvPr/>
        </p:nvSpPr>
        <p:spPr>
          <a:xfrm>
            <a:off x="1104900" y="4509864"/>
            <a:ext cx="7356476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A8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Dễ học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8390632" y="5162327"/>
            <a:ext cx="4876279" cy="9525"/>
          </a:xfrm>
          <a:prstGeom prst="rect">
            <a:avLst/>
          </a:prstGeom>
          <a:solidFill>
            <a:srgbClr val="E9E9ED">
              <a:alpha val="1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9" name="Text 17"/>
          <p:cNvSpPr/>
          <p:nvPr/>
        </p:nvSpPr>
        <p:spPr>
          <a:xfrm>
            <a:off x="8543032" y="4509864"/>
            <a:ext cx="471776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13266911" y="5162327"/>
            <a:ext cx="4068589" cy="9525"/>
          </a:xfrm>
          <a:prstGeom prst="rect">
            <a:avLst/>
          </a:prstGeom>
          <a:solidFill>
            <a:srgbClr val="E9E9ED">
              <a:alpha val="1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1" name="Text 19"/>
          <p:cNvSpPr/>
          <p:nvPr/>
        </p:nvSpPr>
        <p:spPr>
          <a:xfrm>
            <a:off x="13419311" y="4509864"/>
            <a:ext cx="388584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B5A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52500" y="6033864"/>
            <a:ext cx="7438132" cy="9525"/>
          </a:xfrm>
          <a:prstGeom prst="rect">
            <a:avLst/>
          </a:prstGeom>
          <a:solidFill>
            <a:srgbClr val="E9E9ED">
              <a:alpha val="1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3" name="Text 21"/>
          <p:cNvSpPr/>
          <p:nvPr/>
        </p:nvSpPr>
        <p:spPr>
          <a:xfrm>
            <a:off x="1104900" y="5381402"/>
            <a:ext cx="7356476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A8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Kubernetes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8390632" y="6033864"/>
            <a:ext cx="4876279" cy="9525"/>
          </a:xfrm>
          <a:prstGeom prst="rect">
            <a:avLst/>
          </a:prstGeom>
          <a:solidFill>
            <a:srgbClr val="E9E9ED">
              <a:alpha val="1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5" name="Text 23"/>
          <p:cNvSpPr/>
          <p:nvPr/>
        </p:nvSpPr>
        <p:spPr>
          <a:xfrm>
            <a:off x="8543032" y="5381402"/>
            <a:ext cx="471776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13266911" y="6033864"/>
            <a:ext cx="4068589" cy="9525"/>
          </a:xfrm>
          <a:prstGeom prst="rect">
            <a:avLst/>
          </a:prstGeom>
          <a:solidFill>
            <a:srgbClr val="E9E9ED">
              <a:alpha val="1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7" name="Text 25"/>
          <p:cNvSpPr/>
          <p:nvPr/>
        </p:nvSpPr>
        <p:spPr>
          <a:xfrm>
            <a:off x="13419311" y="5381402"/>
            <a:ext cx="388584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952500" y="6905402"/>
            <a:ext cx="7438132" cy="9525"/>
          </a:xfrm>
          <a:prstGeom prst="rect">
            <a:avLst/>
          </a:prstGeom>
          <a:solidFill>
            <a:srgbClr val="E9E9ED">
              <a:alpha val="1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9" name="Text 27"/>
          <p:cNvSpPr/>
          <p:nvPr/>
        </p:nvSpPr>
        <p:spPr>
          <a:xfrm>
            <a:off x="1104900" y="6252939"/>
            <a:ext cx="7356476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A8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Đa cloud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8390632" y="6905402"/>
            <a:ext cx="4876279" cy="9525"/>
          </a:xfrm>
          <a:prstGeom prst="rect">
            <a:avLst/>
          </a:prstGeom>
          <a:solidFill>
            <a:srgbClr val="E9E9ED">
              <a:alpha val="1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1" name="Text 29"/>
          <p:cNvSpPr/>
          <p:nvPr/>
        </p:nvSpPr>
        <p:spPr>
          <a:xfrm>
            <a:off x="8543032" y="6252939"/>
            <a:ext cx="471776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13266911" y="6905402"/>
            <a:ext cx="4068589" cy="9525"/>
          </a:xfrm>
          <a:prstGeom prst="rect">
            <a:avLst/>
          </a:prstGeom>
          <a:solidFill>
            <a:srgbClr val="E9E9ED">
              <a:alpha val="1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3" name="Text 31"/>
          <p:cNvSpPr/>
          <p:nvPr/>
        </p:nvSpPr>
        <p:spPr>
          <a:xfrm>
            <a:off x="13419311" y="6252939"/>
            <a:ext cx="388584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</a:t>
            </a:r>
            <a:endParaRPr lang="en-US" sz="2250" dirty="0"/>
          </a:p>
        </p:txBody>
      </p:sp>
      <p:sp>
        <p:nvSpPr>
          <p:cNvPr id="34" name="Shape 32"/>
          <p:cNvSpPr/>
          <p:nvPr/>
        </p:nvSpPr>
        <p:spPr>
          <a:xfrm>
            <a:off x="952500" y="7776939"/>
            <a:ext cx="7438132" cy="9525"/>
          </a:xfrm>
          <a:prstGeom prst="rect">
            <a:avLst/>
          </a:prstGeom>
          <a:solidFill>
            <a:srgbClr val="E9E9ED">
              <a:alpha val="1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5" name="Text 33"/>
          <p:cNvSpPr/>
          <p:nvPr/>
        </p:nvSpPr>
        <p:spPr>
          <a:xfrm>
            <a:off x="1104900" y="7124477"/>
            <a:ext cx="7356476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A8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phí quản trị</a:t>
            </a:r>
            <a:endParaRPr lang="en-US" sz="2250" dirty="0"/>
          </a:p>
        </p:txBody>
      </p:sp>
      <p:sp>
        <p:nvSpPr>
          <p:cNvPr id="36" name="Shape 34"/>
          <p:cNvSpPr/>
          <p:nvPr/>
        </p:nvSpPr>
        <p:spPr>
          <a:xfrm>
            <a:off x="8390632" y="7776939"/>
            <a:ext cx="4876279" cy="9525"/>
          </a:xfrm>
          <a:prstGeom prst="rect">
            <a:avLst/>
          </a:prstGeom>
          <a:solidFill>
            <a:srgbClr val="E9E9ED">
              <a:alpha val="1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7" name="Text 35"/>
          <p:cNvSpPr/>
          <p:nvPr/>
        </p:nvSpPr>
        <p:spPr>
          <a:xfrm>
            <a:off x="8543032" y="7124477"/>
            <a:ext cx="471776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Thấp</a:t>
            </a:r>
            <a:endParaRPr lang="en-US" sz="2250" dirty="0"/>
          </a:p>
        </p:txBody>
      </p:sp>
      <p:sp>
        <p:nvSpPr>
          <p:cNvPr id="38" name="Shape 36"/>
          <p:cNvSpPr/>
          <p:nvPr/>
        </p:nvSpPr>
        <p:spPr>
          <a:xfrm>
            <a:off x="13266911" y="7776939"/>
            <a:ext cx="4068589" cy="9525"/>
          </a:xfrm>
          <a:prstGeom prst="rect">
            <a:avLst/>
          </a:prstGeom>
          <a:solidFill>
            <a:srgbClr val="E9E9ED">
              <a:alpha val="1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9" name="Text 37"/>
          <p:cNvSpPr/>
          <p:nvPr/>
        </p:nvSpPr>
        <p:spPr>
          <a:xfrm>
            <a:off x="13419311" y="7124477"/>
            <a:ext cx="3885847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Cao hơn</a:t>
            </a:r>
            <a:endParaRPr lang="en-US" sz="2250" dirty="0"/>
          </a:p>
        </p:txBody>
      </p:sp>
      <p:sp>
        <p:nvSpPr>
          <p:cNvPr id="40" name="Text 38"/>
          <p:cNvSpPr/>
          <p:nvPr/>
        </p:nvSpPr>
        <p:spPr>
          <a:xfrm>
            <a:off x="1104900" y="7996014"/>
            <a:ext cx="7356476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A8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 hoạt</a:t>
            </a:r>
            <a:endParaRPr lang="en-US" sz="2250" dirty="0"/>
          </a:p>
        </p:txBody>
      </p:sp>
      <p:sp>
        <p:nvSpPr>
          <p:cNvPr id="41" name="Text 39"/>
          <p:cNvSpPr/>
          <p:nvPr/>
        </p:nvSpPr>
        <p:spPr>
          <a:xfrm>
            <a:off x="8543032" y="7996014"/>
            <a:ext cx="471776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 bình</a:t>
            </a:r>
            <a:endParaRPr lang="en-US" sz="2250" dirty="0"/>
          </a:p>
        </p:txBody>
      </p:sp>
      <p:sp>
        <p:nvSpPr>
          <p:cNvPr id="42" name="Text 40"/>
          <p:cNvSpPr/>
          <p:nvPr/>
        </p:nvSpPr>
        <p:spPr>
          <a:xfrm>
            <a:off x="13419311" y="7996014"/>
            <a:ext cx="388584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22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Rất cao</a:t>
            </a:r>
            <a:endParaRPr lang="en-US" sz="2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720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490"/>
              </a:lnSpc>
              <a:buNone/>
            </a:pPr>
            <a:r>
              <a:rPr lang="en-US" sz="4800" kern="0" spc="-96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Lộ trình học bảy bước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1749549"/>
            <a:ext cx="180213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8D8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learning path for AWS DevOps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52500" y="2696319"/>
            <a:ext cx="533400" cy="533400"/>
          </a:xfrm>
          <a:prstGeom prst="ellipse">
            <a:avLst/>
          </a:prstGeom>
          <a:solidFill>
            <a:srgbClr val="9184D9">
              <a:alpha val="24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5" name="Text 3"/>
          <p:cNvSpPr/>
          <p:nvPr/>
        </p:nvSpPr>
        <p:spPr>
          <a:xfrm>
            <a:off x="914400" y="2696319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3538"/>
              </a:lnSpc>
              <a:buNone/>
            </a:pPr>
            <a:r>
              <a:rPr lang="en-US" sz="2100" dirty="0">
                <a:solidFill>
                  <a:srgbClr val="F5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33550" y="2712021"/>
            <a:ext cx="6724181" cy="54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28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— image, volume, network, Compose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448800" y="2696319"/>
            <a:ext cx="533400" cy="533400"/>
          </a:xfrm>
          <a:prstGeom prst="ellipse">
            <a:avLst/>
          </a:prstGeom>
          <a:solidFill>
            <a:srgbClr val="9184D9">
              <a:alpha val="24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8" name="Text 6"/>
          <p:cNvSpPr/>
          <p:nvPr/>
        </p:nvSpPr>
        <p:spPr>
          <a:xfrm>
            <a:off x="9410700" y="2696319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3538"/>
              </a:lnSpc>
              <a:buNone/>
            </a:pPr>
            <a:r>
              <a:rPr lang="en-US" sz="2100" dirty="0">
                <a:solidFill>
                  <a:srgbClr val="F5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229850" y="2712021"/>
            <a:ext cx="6235831" cy="54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28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ALB, IAM Role, CloudWatch, Auto Scaling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52500" y="3458319"/>
            <a:ext cx="533400" cy="533400"/>
          </a:xfrm>
          <a:prstGeom prst="ellipse">
            <a:avLst/>
          </a:prstGeom>
          <a:solidFill>
            <a:srgbClr val="9184D9">
              <a:alpha val="24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1" name="Text 9"/>
          <p:cNvSpPr/>
          <p:nvPr/>
        </p:nvSpPr>
        <p:spPr>
          <a:xfrm>
            <a:off x="914400" y="3458319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3538"/>
              </a:lnSpc>
              <a:buNone/>
            </a:pPr>
            <a:r>
              <a:rPr lang="en-US" sz="2100" dirty="0">
                <a:solidFill>
                  <a:srgbClr val="F5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33550" y="3474021"/>
            <a:ext cx="4469882" cy="54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28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ECR — nơi lưu image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448800" y="3458319"/>
            <a:ext cx="533400" cy="533400"/>
          </a:xfrm>
          <a:prstGeom prst="ellipse">
            <a:avLst/>
          </a:prstGeom>
          <a:solidFill>
            <a:srgbClr val="9184D9">
              <a:alpha val="24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4" name="Text 12"/>
          <p:cNvSpPr/>
          <p:nvPr/>
        </p:nvSpPr>
        <p:spPr>
          <a:xfrm>
            <a:off x="9410700" y="3458319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3538"/>
              </a:lnSpc>
              <a:buNone/>
            </a:pPr>
            <a:r>
              <a:rPr lang="en-US" sz="2100" dirty="0">
                <a:solidFill>
                  <a:srgbClr val="F5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0229850" y="3474021"/>
            <a:ext cx="7185600" cy="54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28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cơ bản — Pod, Deployment, Service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52500" y="4455542"/>
            <a:ext cx="533400" cy="533400"/>
          </a:xfrm>
          <a:prstGeom prst="ellipse">
            <a:avLst/>
          </a:prstGeom>
          <a:solidFill>
            <a:srgbClr val="9184D9">
              <a:alpha val="24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7" name="Text 15"/>
          <p:cNvSpPr/>
          <p:nvPr/>
        </p:nvSpPr>
        <p:spPr>
          <a:xfrm>
            <a:off x="914400" y="4455542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3538"/>
              </a:lnSpc>
              <a:buNone/>
            </a:pPr>
            <a:r>
              <a:rPr lang="en-US" sz="2100" dirty="0">
                <a:solidFill>
                  <a:srgbClr val="F5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733550" y="4471243"/>
            <a:ext cx="6499406" cy="54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28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ECS + Fargate — deploy ứng dụng đầu tiên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448800" y="4455542"/>
            <a:ext cx="533400" cy="533400"/>
          </a:xfrm>
          <a:prstGeom prst="ellipse">
            <a:avLst/>
          </a:prstGeom>
          <a:solidFill>
            <a:srgbClr val="9184D9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0" name="Text 18"/>
          <p:cNvSpPr/>
          <p:nvPr/>
        </p:nvSpPr>
        <p:spPr>
          <a:xfrm>
            <a:off x="9410700" y="4455542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3538"/>
              </a:lnSpc>
              <a:buNone/>
            </a:pPr>
            <a:r>
              <a:rPr lang="en-US" sz="2100" dirty="0">
                <a:solidFill>
                  <a:srgbClr val="16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0229850" y="4220319"/>
            <a:ext cx="7318820" cy="1041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28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 — Node Group, Ingress, autoscaling, monitoring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952500" y="5452765"/>
            <a:ext cx="533400" cy="533400"/>
          </a:xfrm>
          <a:prstGeom prst="ellipse">
            <a:avLst/>
          </a:prstGeom>
          <a:solidFill>
            <a:srgbClr val="9184D9">
              <a:alpha val="24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3" name="Text 21"/>
          <p:cNvSpPr/>
          <p:nvPr/>
        </p:nvSpPr>
        <p:spPr>
          <a:xfrm>
            <a:off x="914400" y="545276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3538"/>
              </a:lnSpc>
              <a:buNone/>
            </a:pPr>
            <a:r>
              <a:rPr lang="en-US" sz="2100" dirty="0">
                <a:solidFill>
                  <a:srgbClr val="F5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733550" y="5468466"/>
            <a:ext cx="6968356" cy="54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128"/>
              </a:lnSpc>
              <a:buNone/>
            </a:pPr>
            <a:r>
              <a:rPr lang="en-US" sz="25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ECS trên EC2 — capacity provider, networking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952500" y="6519565"/>
            <a:ext cx="15373982" cy="1106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3846"/>
              </a:lnSpc>
              <a:buNone/>
            </a:pPr>
            <a:r>
              <a:rPr lang="en-US" sz="25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nền Linux, Jenkins và GitHub rồi thì bắt đầu từ ECS: deploy nhanh và hiểu chắc khái niệm orchestration. Sau đó sang EKS sẽ nhẹ hơn nhiều.</a:t>
            </a:r>
            <a:endParaRPr lang="en-US" sz="2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A2F66">
                  <a:alpha val="100000"/>
                </a:srgbClr>
              </a:gs>
              <a:gs pos="62000">
                <a:srgbClr val="161826">
                  <a:alpha val="100000"/>
                </a:srgbClr>
              </a:gs>
            </a:gsLst>
            <a:path path="circle">
              <a:fillToRect l="20000" t="100000" r="80000"/>
            </a:path>
          </a:gradFill>
          <a:ln/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952500" y="3154710"/>
            <a:ext cx="180213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kern="0" spc="420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TÓM LẠI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3987180"/>
            <a:ext cx="15779748" cy="1683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51"/>
              </a:lnSpc>
              <a:buNone/>
            </a:pPr>
            <a:r>
              <a:rPr lang="en-US" sz="48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Bắt đầu bằng ECS để chạy được sản phẩm. Học EKS khi cần Kubernetes chuẩn.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6318870"/>
            <a:ext cx="3048000" cy="19050"/>
          </a:xfrm>
          <a:prstGeom prst="rect">
            <a:avLst/>
          </a:prstGeom>
          <a:gradFill rotWithShape="1">
            <a:gsLst>
              <a:gs pos="0">
                <a:srgbClr val="9184D9">
                  <a:alpha val="100000"/>
                </a:srgbClr>
              </a:gs>
              <a:gs pos="100000">
                <a:srgbClr val="9184D9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VN"/>
          </a:p>
        </p:txBody>
      </p:sp>
      <p:sp>
        <p:nvSpPr>
          <p:cNvPr id="6" name="Text 4"/>
          <p:cNvSpPr/>
          <p:nvPr/>
        </p:nvSpPr>
        <p:spPr>
          <a:xfrm>
            <a:off x="952500" y="6718920"/>
            <a:ext cx="180213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38"/>
              </a:lnSpc>
              <a:buNone/>
            </a:pPr>
            <a:r>
              <a:rPr lang="en-US" sz="210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Yên Nguyễn — © Yên Nguyễn All Rights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1612</Words>
  <Application>Microsoft Macintosh PowerPoint</Application>
  <PresentationFormat>Custom</PresentationFormat>
  <Paragraphs>328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Inter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Nguyen, Yen-208086</cp:lastModifiedBy>
  <cp:revision>9</cp:revision>
  <dcterms:created xsi:type="dcterms:W3CDTF">2026-08-04T06:52:16Z</dcterms:created>
  <dcterms:modified xsi:type="dcterms:W3CDTF">2026-08-04T07:27:46Z</dcterms:modified>
</cp:coreProperties>
</file>