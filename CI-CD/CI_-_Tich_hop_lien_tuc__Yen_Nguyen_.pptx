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Chào lớp. Đây là bài 36 trong lộ trình Way to Enterprise: Tích hợp liên tục. Mục tiêu hôm nay là các bạn hiểu CI và tự viết được file CI đầu tiên.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Bốn mục tiêu của buổi học. Nhấn mạnh mục tiêu 3 và 4 vì đó là phần thực hành.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Định nghĩa gốc từ slide VTI: tích hợp thường xuyên vào kho chung, kiểm tra tự động. Hỏi lớp: hiện tại các em gộp code bao lâu một lần?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slide thuyết phục. Hỏi lớp đã ai gặp merge conflict khổng lồ chưa.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Năm từ này xuất hiện trong mọi tài liệu CI. Yêu cầu lớp nhắc lại bằng tiếng Việt.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 từng bước một. Bước 4 và 5 là phần máy làm thay con người.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Hai sơ đồ lấy từ tài liệu gốc. Nhấn mạnh ranh giới: CI dừng ở integration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repo mẫu và dán đúng file này. Giải thích on, jobs, runs-on,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giá trị thật của CI: biết chính xác commit nào, test nào, dòng nào hỏng, chỉ sau ba phút.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Bài thực hành của slide gốc: tạo luồng CI với Jenkins. So sánh cú pháp với GitHub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Năm lợi ích theo slide gốc. Biểu đồ minh hoạ chi phí sửa lỗi tăng dần.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Khuyên sinh viên bắt đầu với GitHub Actions vì miễn phí cho repo công khai.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Năm nguyên tắc nên theo và bốn thói quen nên tránh.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Phần mở rộng ngoài tài liệu gốc: những gì doanh nghiệp đang làm khi CI đã ổn định.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Bốn bước dùng AI. Nhấn mạnh bước 2 che thông tin nhạy cảm và bước 4 kiểm chứng.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Bảng tra nhanh. Sinh viên nên chụp lại slide này.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Bảy điều cần nhớ. Cho lớp đọc to điều số 1 và số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Mời câu hỏi. Nhắc bài tập: bật CI cho đồ án nhóm và nộp link build xanh.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598688"/>
            <a:ext cx="9190896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spc="540" kern="0" dirty="0">
                <a:solidFill>
                  <a:srgbClr val="94BCE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WAY TO ENTERPRISE · LESSON 36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952500" y="3422600"/>
            <a:ext cx="9190896" cy="1247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713"/>
              </a:lnSpc>
              <a:buNone/>
            </a:pPr>
            <a:r>
              <a:rPr lang="en-US" sz="10350" b="1" spc="-155" kern="0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TÍCH HỢP LIÊN TỤC</a:t>
            </a:r>
            <a:endParaRPr lang="en-US" sz="10350" dirty="0"/>
          </a:p>
        </p:txBody>
      </p:sp>
      <p:sp>
        <p:nvSpPr>
          <p:cNvPr id="4" name="Text 2"/>
          <p:cNvSpPr/>
          <p:nvPr/>
        </p:nvSpPr>
        <p:spPr>
          <a:xfrm>
            <a:off x="952500" y="4898529"/>
            <a:ext cx="9190896" cy="894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53"/>
              </a:lnSpc>
              <a:buNone/>
            </a:pPr>
            <a:r>
              <a:rPr lang="en-US" sz="4350" dirty="0">
                <a:solidFill>
                  <a:srgbClr val="94BCE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Continuous Integration (CI)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52500" y="6288212"/>
            <a:ext cx="1524000" cy="38100"/>
          </a:xfrm>
          <a:prstGeom prst="rect">
            <a:avLst/>
          </a:prstGeom>
          <a:solidFill>
            <a:srgbClr val="5980A6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6707312"/>
            <a:ext cx="9190896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dirty="0">
                <a:solidFill>
                  <a:srgbClr val="DFE7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Tác giả (Author): </a:t>
            </a:r>
            <a:pPr algn="l" indent="0" marL="0">
              <a:lnSpc>
                <a:spcPct val="128831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Yên Nguyễn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52500" y="7274942"/>
            <a:ext cx="9190896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94BCE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Dành cho sinh viên IT mới bắt đầu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0069860" y="3098825"/>
            <a:ext cx="7265566" cy="4089350"/>
          </a:xfrm>
          <a:prstGeom prst="rect">
            <a:avLst/>
          </a:prstGeom>
          <a:ln w="9525">
            <a:solidFill>
              <a:srgbClr val="597EA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9385" y="3108350"/>
            <a:ext cx="7246516" cy="4070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spc="420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MODULE 00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42070"/>
            <a:ext cx="18021300" cy="912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239"/>
              </a:lnSpc>
              <a:buNone/>
            </a:pPr>
            <a:r>
              <a:rPr lang="en-US" sz="6150" b="1" spc="-92" kern="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Mục tiêu bài học</a:t>
            </a:r>
            <a:endParaRPr lang="en-US" sz="6150" dirty="0"/>
          </a:p>
        </p:txBody>
      </p:sp>
      <p:sp>
        <p:nvSpPr>
          <p:cNvPr id="4" name="Shape 2"/>
          <p:cNvSpPr/>
          <p:nvPr/>
        </p:nvSpPr>
        <p:spPr>
          <a:xfrm>
            <a:off x="952500" y="2507307"/>
            <a:ext cx="16383000" cy="28575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3145482"/>
            <a:ext cx="3867150" cy="3301231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5875" y="3536007"/>
            <a:ext cx="35204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237"/>
              </a:lnSpc>
              <a:buNone/>
            </a:pPr>
            <a:r>
              <a:rPr lang="en-US" sz="5400" dirty="0">
                <a:solidFill>
                  <a:srgbClr val="B5D9F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01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285875" y="4381798"/>
            <a:ext cx="3520440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679"/>
              </a:lnSpc>
              <a:buNone/>
            </a:pPr>
            <a:r>
              <a:rPr lang="en-US" sz="330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Hiểu CI là gì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285875" y="5229448"/>
            <a:ext cx="3296412" cy="86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Giải thích được bằng lời của chính mình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124450" y="3145482"/>
            <a:ext cx="3867150" cy="3301231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57825" y="3536007"/>
            <a:ext cx="35204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237"/>
              </a:lnSpc>
              <a:buNone/>
            </a:pPr>
            <a:r>
              <a:rPr lang="en-US" sz="5400" dirty="0">
                <a:solidFill>
                  <a:srgbClr val="B5D9F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02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5457825" y="4381798"/>
            <a:ext cx="3520440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679"/>
              </a:lnSpc>
              <a:buNone/>
            </a:pPr>
            <a:r>
              <a:rPr lang="en-US" sz="330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Đọc được pipeline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5457825" y="5229448"/>
            <a:ext cx="3296412" cy="86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 → Test → Artifact → Report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296400" y="3145482"/>
            <a:ext cx="3867150" cy="3301231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29775" y="3536007"/>
            <a:ext cx="35204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237"/>
              </a:lnSpc>
              <a:buNone/>
            </a:pPr>
            <a:r>
              <a:rPr lang="en-US" sz="5400" dirty="0">
                <a:solidFill>
                  <a:srgbClr val="B5D9F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03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9629775" y="4381798"/>
            <a:ext cx="3520440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679"/>
              </a:lnSpc>
              <a:buNone/>
            </a:pPr>
            <a:r>
              <a:rPr lang="en-US" sz="330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Tự viết file CI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9629775" y="5229448"/>
            <a:ext cx="3296412" cy="86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GitHub Actions và Jenkinsfile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3468350" y="3145482"/>
            <a:ext cx="3867150" cy="3301231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801725" y="3536007"/>
            <a:ext cx="35204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237"/>
              </a:lnSpc>
              <a:buNone/>
            </a:pPr>
            <a:r>
              <a:rPr lang="en-US" sz="5400" dirty="0">
                <a:solidFill>
                  <a:srgbClr val="B5D9F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04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13801725" y="4381798"/>
            <a:ext cx="3520440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679"/>
              </a:lnSpc>
              <a:buNone/>
            </a:pPr>
            <a:r>
              <a:rPr lang="en-US" sz="330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Gỡ lỗi cùng AI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3801725" y="5229448"/>
            <a:ext cx="3296412" cy="86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Prompt chuẩn khi build báo đỏ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1731020"/>
            <a:ext cx="9372533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spc="420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MODULE 01 · KHÁI NIỆM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2220590"/>
            <a:ext cx="9372533" cy="912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239"/>
              </a:lnSpc>
              <a:buNone/>
            </a:pPr>
            <a:r>
              <a:rPr lang="en-US" sz="6150" b="1" spc="-92" kern="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CI là gì?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952500" y="3438227"/>
            <a:ext cx="8776099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30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Lập trình viên </a:t>
            </a:r>
            <a:pPr algn="l" indent="0" marL="0">
              <a:lnSpc>
                <a:spcPct val="120833"/>
              </a:lnSpc>
              <a:buNone/>
            </a:pPr>
            <a:r>
              <a:rPr lang="en-US" sz="3000" b="1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gộp code vào kho chung nhiều lần mỗi ngày </a:t>
            </a:r>
            <a:pPr algn="l" indent="0" marL="0">
              <a:lnSpc>
                <a:spcPct val="120833"/>
              </a:lnSpc>
              <a:buNone/>
            </a:pPr>
            <a:r>
              <a:rPr lang="en-US" sz="30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và mỗi lần gộp đều được máy </a:t>
            </a:r>
            <a:pPr algn="l" indent="0" marL="0">
              <a:lnSpc>
                <a:spcPct val="120833"/>
              </a:lnSpc>
              <a:buNone/>
            </a:pPr>
            <a:r>
              <a:rPr lang="en-US" sz="3000" b="1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tự động build và test </a:t>
            </a:r>
            <a:pPr algn="l" indent="0" marL="0">
              <a:lnSpc>
                <a:spcPct val="120833"/>
              </a:lnSpc>
              <a:buNone/>
            </a:pPr>
            <a:r>
              <a:rPr lang="en-US" sz="30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52500" y="5362277"/>
            <a:ext cx="8776099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75"/>
              </a:lnSpc>
              <a:buNone/>
            </a:pPr>
            <a:r>
              <a:rPr lang="en-US" sz="2400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Mục tiêu: phát hiện lỗi sớm (early feedback) và giữ phần mềm luôn ở trạng thái có thể triển khai (always deployable).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52500" y="6657677"/>
            <a:ext cx="8520485" cy="1898303"/>
          </a:xfrm>
          <a:prstGeom prst="rect">
            <a:avLst/>
          </a:prstGeom>
          <a:solidFill>
            <a:srgbClr val="EEF6FF"/>
          </a:solidFill>
          <a:ln w="9525">
            <a:solidFill>
              <a:srgbClr val="94BC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5875" y="6952952"/>
            <a:ext cx="8639108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12" kern="0" dirty="0">
                <a:solidFill>
                  <a:srgbClr val="2C455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VÍ DỤ ĐỜI THƯỜNG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85875" y="7432030"/>
            <a:ext cx="8089347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Bốn bạn nấu chung một bữa tiệc: nếm thử mỗi 30 phút thay vì đợi đến phút chót mới bày lên bàn.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0234985" y="3220269"/>
            <a:ext cx="7100515" cy="3846463"/>
          </a:xfrm>
          <a:prstGeom prst="rect">
            <a:avLst/>
          </a:prstGeom>
          <a:solidFill>
            <a:srgbClr val="FFFFFF"/>
          </a:solidFill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510" y="3610794"/>
            <a:ext cx="6319465" cy="25206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625510" y="6321921"/>
            <a:ext cx="6951412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CI nằm ở nửa trái của vòng lặp DevOps: Code → Build → Test.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12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239"/>
              </a:lnSpc>
              <a:buNone/>
            </a:pPr>
            <a:r>
              <a:rPr lang="en-US" sz="6150" b="1" spc="-92" kern="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Không có CI · Có CI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952500" y="2017737"/>
            <a:ext cx="16383000" cy="28575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617812"/>
            <a:ext cx="7962900" cy="4438576"/>
          </a:xfrm>
          <a:prstGeom prst="rect">
            <a:avLst/>
          </a:prstGeom>
          <a:ln w="9525">
            <a:solidFill>
              <a:srgbClr val="B7B7B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9225" y="3084537"/>
            <a:ext cx="7732395" cy="7467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91"/>
              </a:lnSpc>
              <a:buNone/>
            </a:pPr>
            <a:r>
              <a:rPr lang="en-US" sz="3600" spc="216" kern="0" dirty="0">
                <a:solidFill>
                  <a:srgbClr val="5D5D6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✕ KHÔNG CÓ CI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419225" y="4059882"/>
            <a:ext cx="7240334" cy="5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299"/>
              </a:lnSpc>
              <a:buNone/>
            </a:pPr>
            <a:r>
              <a:rPr lang="en-US" sz="2400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Gộp code mỗi tháng một lần → xung đột khổng lồ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19225" y="4730428"/>
            <a:ext cx="7240334" cy="5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299"/>
              </a:lnSpc>
              <a:buNone/>
            </a:pPr>
            <a:r>
              <a:rPr lang="en-US" sz="2400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Lỗi phát hiện muộn, không rõ ai gây ra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19225" y="5400973"/>
            <a:ext cx="7240334" cy="5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299"/>
              </a:lnSpc>
              <a:buNone/>
            </a:pPr>
            <a:r>
              <a:rPr lang="en-US" sz="2400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Test thủ công, hay quên bước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19225" y="6071518"/>
            <a:ext cx="7240334" cy="5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299"/>
              </a:lnSpc>
              <a:buNone/>
            </a:pPr>
            <a:r>
              <a:rPr lang="en-US" sz="2400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“Máy em chạy được mà!”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372600" y="2617812"/>
            <a:ext cx="7962900" cy="4438576"/>
          </a:xfrm>
          <a:prstGeom prst="rect">
            <a:avLst/>
          </a:prstGeom>
          <a:solidFill>
            <a:srgbClr val="EEF6FF"/>
          </a:solidFill>
          <a:ln w="9525">
            <a:solidFill>
              <a:srgbClr val="749D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39325" y="3084537"/>
            <a:ext cx="7732395" cy="7467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91"/>
              </a:lnSpc>
              <a:buNone/>
            </a:pPr>
            <a:r>
              <a:rPr lang="en-US" sz="3600" spc="216" kern="0" dirty="0">
                <a:solidFill>
                  <a:srgbClr val="2C455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✓ CÓ CI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839325" y="4059882"/>
            <a:ext cx="7240334" cy="5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299"/>
              </a:lnSpc>
              <a:buNone/>
            </a:pPr>
            <a:r>
              <a:rPr lang="en-US" sz="2400" dirty="0">
                <a:solidFill>
                  <a:srgbClr val="1D2D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Commit nhỏ, gộp nhiều lần mỗi ngày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839325" y="4730428"/>
            <a:ext cx="7240334" cy="5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299"/>
              </a:lnSpc>
              <a:buNone/>
            </a:pPr>
            <a:r>
              <a:rPr lang="en-US" sz="2400" dirty="0">
                <a:solidFill>
                  <a:srgbClr val="1D2D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 đỏ sau 5 phút → biết ngay commit nào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839325" y="5400973"/>
            <a:ext cx="7240334" cy="5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299"/>
              </a:lnSpc>
              <a:buNone/>
            </a:pPr>
            <a:r>
              <a:rPr lang="en-US" sz="2400" dirty="0">
                <a:solidFill>
                  <a:srgbClr val="1D2D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Test tự động chạy giống hệt nhau mỗi lần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839325" y="6071518"/>
            <a:ext cx="7240334" cy="5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299"/>
              </a:lnSpc>
              <a:buNone/>
            </a:pPr>
            <a:r>
              <a:rPr lang="en-US" sz="2400" dirty="0">
                <a:solidFill>
                  <a:srgbClr val="1D2D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CI là “trọng tài” chung của cả nhóm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spc="420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MODULE 02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42070"/>
            <a:ext cx="18021300" cy="912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239"/>
              </a:lnSpc>
              <a:buNone/>
            </a:pPr>
            <a:r>
              <a:rPr lang="en-US" sz="6150" b="1" spc="-92" kern="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Năm thuật ngữ cốt lõi</a:t>
            </a:r>
            <a:endParaRPr lang="en-US" sz="6150" dirty="0"/>
          </a:p>
        </p:txBody>
      </p:sp>
      <p:sp>
        <p:nvSpPr>
          <p:cNvPr id="4" name="Shape 2"/>
          <p:cNvSpPr/>
          <p:nvPr/>
        </p:nvSpPr>
        <p:spPr>
          <a:xfrm>
            <a:off x="952500" y="2507307"/>
            <a:ext cx="16383000" cy="28575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3069282"/>
            <a:ext cx="3093690" cy="3237905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9675" y="3402657"/>
            <a:ext cx="2837274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375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BUILD</a:t>
            </a:r>
            <a:endParaRPr lang="en-US" sz="3750" dirty="0"/>
          </a:p>
        </p:txBody>
      </p:sp>
      <p:sp>
        <p:nvSpPr>
          <p:cNvPr id="7" name="Text 5"/>
          <p:cNvSpPr/>
          <p:nvPr/>
        </p:nvSpPr>
        <p:spPr>
          <a:xfrm>
            <a:off x="1209675" y="4205585"/>
            <a:ext cx="2837274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spc="126" kern="0" dirty="0">
                <a:solidFill>
                  <a:srgbClr val="5D5D6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BIÊN DỊCH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09675" y="4855146"/>
            <a:ext cx="2656720" cy="78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62"/>
              </a:lnSpc>
              <a:buNone/>
            </a:pPr>
            <a:r>
              <a:rPr lang="en-US" sz="202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Biến mã nguồn thành ứng dụng chạy được.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4274790" y="3069282"/>
            <a:ext cx="3093690" cy="3237905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1965" y="3402657"/>
            <a:ext cx="2837274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375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TEST</a:t>
            </a:r>
            <a:endParaRPr lang="en-US" sz="3750" dirty="0"/>
          </a:p>
        </p:txBody>
      </p:sp>
      <p:sp>
        <p:nvSpPr>
          <p:cNvPr id="11" name="Text 9"/>
          <p:cNvSpPr/>
          <p:nvPr/>
        </p:nvSpPr>
        <p:spPr>
          <a:xfrm>
            <a:off x="4531965" y="4205585"/>
            <a:ext cx="2837274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spc="126" kern="0" dirty="0">
                <a:solidFill>
                  <a:srgbClr val="5D5D6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KIỂM THỬ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31965" y="4855146"/>
            <a:ext cx="2656720" cy="78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62"/>
              </a:lnSpc>
              <a:buNone/>
            </a:pPr>
            <a:r>
              <a:rPr lang="en-US" sz="202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Máy tự chạy unit và integration test.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7597080" y="3069282"/>
            <a:ext cx="3093765" cy="3237905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54255" y="3402657"/>
            <a:ext cx="2837356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375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DEPLOY</a:t>
            </a:r>
            <a:endParaRPr lang="en-US" sz="3750" dirty="0"/>
          </a:p>
        </p:txBody>
      </p:sp>
      <p:sp>
        <p:nvSpPr>
          <p:cNvPr id="15" name="Text 13"/>
          <p:cNvSpPr/>
          <p:nvPr/>
        </p:nvSpPr>
        <p:spPr>
          <a:xfrm>
            <a:off x="7854255" y="4205585"/>
            <a:ext cx="2837356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spc="126" kern="0" dirty="0">
                <a:solidFill>
                  <a:srgbClr val="5D5D6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TRIỂN KHAI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854255" y="4855146"/>
            <a:ext cx="2656797" cy="78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62"/>
              </a:lnSpc>
              <a:buNone/>
            </a:pPr>
            <a:r>
              <a:rPr lang="en-US" sz="202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Đưa ứng dụng lên dev, staging, production.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10919445" y="3069282"/>
            <a:ext cx="3093690" cy="3237905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76620" y="3402657"/>
            <a:ext cx="2837274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375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PIPELINE</a:t>
            </a:r>
            <a:endParaRPr lang="en-US" sz="3750" dirty="0"/>
          </a:p>
        </p:txBody>
      </p:sp>
      <p:sp>
        <p:nvSpPr>
          <p:cNvPr id="19" name="Text 17"/>
          <p:cNvSpPr/>
          <p:nvPr/>
        </p:nvSpPr>
        <p:spPr>
          <a:xfrm>
            <a:off x="11176620" y="4205585"/>
            <a:ext cx="2837274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spc="126" kern="0" dirty="0">
                <a:solidFill>
                  <a:srgbClr val="5D5D6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DÂY CHUYỀN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1176620" y="4855146"/>
            <a:ext cx="2656720" cy="115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62"/>
              </a:lnSpc>
              <a:buNone/>
            </a:pPr>
            <a:r>
              <a:rPr lang="en-US" sz="202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Chuỗi bước tự động, tuần tự hoặc song song.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14241735" y="3069282"/>
            <a:ext cx="3093690" cy="3237905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498910" y="3402657"/>
            <a:ext cx="2837274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375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ARTIFACT</a:t>
            </a:r>
            <a:endParaRPr lang="en-US" sz="3750" dirty="0"/>
          </a:p>
        </p:txBody>
      </p:sp>
      <p:sp>
        <p:nvSpPr>
          <p:cNvPr id="23" name="Text 21"/>
          <p:cNvSpPr/>
          <p:nvPr/>
        </p:nvSpPr>
        <p:spPr>
          <a:xfrm>
            <a:off x="14498910" y="4205585"/>
            <a:ext cx="2837274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spc="126" kern="0" dirty="0">
                <a:solidFill>
                  <a:srgbClr val="5D5D6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SẢN PHẨM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4498910" y="4855146"/>
            <a:ext cx="2656720" cy="78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62"/>
              </a:lnSpc>
              <a:buNone/>
            </a:pPr>
            <a:r>
              <a:rPr lang="en-US" sz="202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Tệp kết quả: .jar, .war, dist, image Docker.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952500" y="6726287"/>
            <a:ext cx="180213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Pipeline là dây chuyền — Build, Test, Deploy là các trạm — Artifact là thùng hàng đi ra ở cuối.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spc="420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MODULE 03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42070"/>
            <a:ext cx="18021300" cy="912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239"/>
              </a:lnSpc>
              <a:buNone/>
            </a:pPr>
            <a:r>
              <a:rPr lang="en-US" sz="6150" b="1" spc="-92" kern="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Quy trình CI — sáu bước</a:t>
            </a:r>
            <a:endParaRPr lang="en-US" sz="6150" dirty="0"/>
          </a:p>
        </p:txBody>
      </p:sp>
      <p:sp>
        <p:nvSpPr>
          <p:cNvPr id="4" name="Shape 2"/>
          <p:cNvSpPr/>
          <p:nvPr/>
        </p:nvSpPr>
        <p:spPr>
          <a:xfrm>
            <a:off x="952500" y="2507307"/>
            <a:ext cx="16383000" cy="28575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3069282"/>
            <a:ext cx="5283175" cy="2721173"/>
          </a:xfrm>
          <a:prstGeom prst="rect">
            <a:avLst/>
          </a:prstGeom>
          <a:solidFill>
            <a:srgbClr val="FFFFFF"/>
          </a:solidFill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5875" y="3402657"/>
            <a:ext cx="5078068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51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BƯỚC 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85875" y="3862685"/>
            <a:ext cx="5078068" cy="717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636"/>
              </a:lnSpc>
              <a:buNone/>
            </a:pPr>
            <a:r>
              <a:rPr lang="en-US" sz="345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Viết code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1285875" y="4656088"/>
            <a:ext cx="4754918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143"/>
              </a:lnSpc>
              <a:buNone/>
            </a:pPr>
            <a:r>
              <a:rPr lang="en-US" sz="2175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Một thay đổi nhỏ, chạy test ở máy mình trước.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6502375" y="3069282"/>
            <a:ext cx="5283175" cy="2721173"/>
          </a:xfrm>
          <a:prstGeom prst="rect">
            <a:avLst/>
          </a:prstGeom>
          <a:solidFill>
            <a:srgbClr val="FFFFFF"/>
          </a:solidFill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35750" y="3402657"/>
            <a:ext cx="5078068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51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BƯỚC 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835750" y="3862685"/>
            <a:ext cx="5078068" cy="717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636"/>
              </a:lnSpc>
              <a:buNone/>
            </a:pPr>
            <a:r>
              <a:rPr lang="en-US" sz="345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Commit &amp; Push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6835750" y="4656088"/>
            <a:ext cx="5078068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143"/>
              </a:lnSpc>
              <a:buNone/>
            </a:pPr>
            <a:r>
              <a:rPr lang="en-US" sz="2175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Đẩy lên Git, mở Pull Request.</a:t>
            </a:r>
            <a:endParaRPr lang="en-US" sz="2175" dirty="0"/>
          </a:p>
        </p:txBody>
      </p:sp>
      <p:sp>
        <p:nvSpPr>
          <p:cNvPr id="13" name="Shape 11"/>
          <p:cNvSpPr/>
          <p:nvPr/>
        </p:nvSpPr>
        <p:spPr>
          <a:xfrm>
            <a:off x="12052250" y="3069282"/>
            <a:ext cx="5283250" cy="2721173"/>
          </a:xfrm>
          <a:prstGeom prst="rect">
            <a:avLst/>
          </a:prstGeom>
          <a:solidFill>
            <a:srgbClr val="FFFFFF"/>
          </a:solidFill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85625" y="3402657"/>
            <a:ext cx="507815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51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BƯỚC 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385625" y="3862685"/>
            <a:ext cx="5078150" cy="717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636"/>
              </a:lnSpc>
              <a:buNone/>
            </a:pPr>
            <a:r>
              <a:rPr lang="en-US" sz="345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Trigger</a:t>
            </a:r>
            <a:endParaRPr lang="en-US" sz="3450" dirty="0"/>
          </a:p>
        </p:txBody>
      </p:sp>
      <p:sp>
        <p:nvSpPr>
          <p:cNvPr id="16" name="Text 14"/>
          <p:cNvSpPr/>
          <p:nvPr/>
        </p:nvSpPr>
        <p:spPr>
          <a:xfrm>
            <a:off x="12385625" y="4656088"/>
            <a:ext cx="4754995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143"/>
              </a:lnSpc>
              <a:buNone/>
            </a:pPr>
            <a:r>
              <a:rPr lang="en-US" sz="2175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Máy chủ CI tự nhận sự kiện và khởi chạy pipeline.</a:t>
            </a:r>
            <a:endParaRPr lang="en-US" sz="2175" dirty="0"/>
          </a:p>
        </p:txBody>
      </p:sp>
      <p:sp>
        <p:nvSpPr>
          <p:cNvPr id="17" name="Shape 15"/>
          <p:cNvSpPr/>
          <p:nvPr/>
        </p:nvSpPr>
        <p:spPr>
          <a:xfrm>
            <a:off x="952500" y="6057156"/>
            <a:ext cx="5283175" cy="2721173"/>
          </a:xfrm>
          <a:prstGeom prst="rect">
            <a:avLst/>
          </a:prstGeom>
          <a:solidFill>
            <a:srgbClr val="EEF6FF"/>
          </a:solidFill>
          <a:ln w="9525">
            <a:solidFill>
              <a:srgbClr val="749D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5875" y="6390531"/>
            <a:ext cx="5078068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51" kern="0" dirty="0">
                <a:solidFill>
                  <a:srgbClr val="2C455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BƯỚC 4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85875" y="6850559"/>
            <a:ext cx="5078068" cy="717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636"/>
              </a:lnSpc>
              <a:buNone/>
            </a:pPr>
            <a:r>
              <a:rPr lang="en-US" sz="345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Build</a:t>
            </a:r>
            <a:endParaRPr lang="en-US" sz="3450" dirty="0"/>
          </a:p>
        </p:txBody>
      </p:sp>
      <p:sp>
        <p:nvSpPr>
          <p:cNvPr id="20" name="Text 18"/>
          <p:cNvSpPr/>
          <p:nvPr/>
        </p:nvSpPr>
        <p:spPr>
          <a:xfrm>
            <a:off x="1285875" y="7643961"/>
            <a:ext cx="4754918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143"/>
              </a:lnSpc>
              <a:buNone/>
            </a:pPr>
            <a:r>
              <a:rPr lang="en-US" sz="2175" dirty="0">
                <a:solidFill>
                  <a:srgbClr val="1D2D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Cài thư viện, biên dịch, đóng gói artifact.</a:t>
            </a:r>
            <a:endParaRPr lang="en-US" sz="2175" dirty="0"/>
          </a:p>
        </p:txBody>
      </p:sp>
      <p:sp>
        <p:nvSpPr>
          <p:cNvPr id="21" name="Shape 19"/>
          <p:cNvSpPr/>
          <p:nvPr/>
        </p:nvSpPr>
        <p:spPr>
          <a:xfrm>
            <a:off x="6502375" y="6057156"/>
            <a:ext cx="5283175" cy="2721173"/>
          </a:xfrm>
          <a:prstGeom prst="rect">
            <a:avLst/>
          </a:prstGeom>
          <a:solidFill>
            <a:srgbClr val="EEF6FF"/>
          </a:solidFill>
          <a:ln w="9525">
            <a:solidFill>
              <a:srgbClr val="749D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5750" y="6390531"/>
            <a:ext cx="5078068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51" kern="0" dirty="0">
                <a:solidFill>
                  <a:srgbClr val="2C455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BƯỚC 5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6835750" y="6850559"/>
            <a:ext cx="5078068" cy="717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636"/>
              </a:lnSpc>
              <a:buNone/>
            </a:pPr>
            <a:r>
              <a:rPr lang="en-US" sz="345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Test</a:t>
            </a:r>
            <a:endParaRPr lang="en-US" sz="3450" dirty="0"/>
          </a:p>
        </p:txBody>
      </p:sp>
      <p:sp>
        <p:nvSpPr>
          <p:cNvPr id="24" name="Text 22"/>
          <p:cNvSpPr/>
          <p:nvPr/>
        </p:nvSpPr>
        <p:spPr>
          <a:xfrm>
            <a:off x="6835750" y="7643961"/>
            <a:ext cx="4754918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143"/>
              </a:lnSpc>
              <a:buNone/>
            </a:pPr>
            <a:r>
              <a:rPr lang="en-US" sz="2175" dirty="0">
                <a:solidFill>
                  <a:srgbClr val="1D2D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Unit → Integration → Functional, kèm lint.</a:t>
            </a:r>
            <a:endParaRPr lang="en-US" sz="2175" dirty="0"/>
          </a:p>
        </p:txBody>
      </p:sp>
      <p:sp>
        <p:nvSpPr>
          <p:cNvPr id="25" name="Shape 23"/>
          <p:cNvSpPr/>
          <p:nvPr/>
        </p:nvSpPr>
        <p:spPr>
          <a:xfrm>
            <a:off x="12052250" y="6057156"/>
            <a:ext cx="5283250" cy="2721173"/>
          </a:xfrm>
          <a:prstGeom prst="rect">
            <a:avLst/>
          </a:prstGeom>
          <a:solidFill>
            <a:srgbClr val="FFFFFF"/>
          </a:solidFill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385625" y="6390531"/>
            <a:ext cx="507815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51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BƯỚC 6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2385625" y="6850559"/>
            <a:ext cx="5078150" cy="717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636"/>
              </a:lnSpc>
              <a:buNone/>
            </a:pPr>
            <a:r>
              <a:rPr lang="en-US" sz="345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Báo kết quả</a:t>
            </a:r>
            <a:endParaRPr lang="en-US" sz="3450" dirty="0"/>
          </a:p>
        </p:txBody>
      </p:sp>
      <p:sp>
        <p:nvSpPr>
          <p:cNvPr id="28" name="Text 26"/>
          <p:cNvSpPr/>
          <p:nvPr/>
        </p:nvSpPr>
        <p:spPr>
          <a:xfrm>
            <a:off x="12385625" y="7643961"/>
            <a:ext cx="5078150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143"/>
              </a:lnSpc>
              <a:buNone/>
            </a:pPr>
            <a:r>
              <a:rPr lang="en-US" sz="2175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Xanh thì merge, đỏ thì sửa ngay lập tức.</a:t>
            </a:r>
            <a:endParaRPr lang="en-US" sz="21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12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239"/>
              </a:lnSpc>
              <a:buNone/>
            </a:pPr>
            <a:r>
              <a:rPr lang="en-US" sz="6150" b="1" spc="-92" kern="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Vòng tuần hoàn CI và ranh giới với CD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952500" y="2017737"/>
            <a:ext cx="16383000" cy="28575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503512"/>
            <a:ext cx="6768405" cy="6038627"/>
          </a:xfrm>
          <a:prstGeom prst="rect">
            <a:avLst/>
          </a:prstGeom>
          <a:solidFill>
            <a:srgbClr val="FFFFFF"/>
          </a:solidFill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6825" y="2817837"/>
            <a:ext cx="6139755" cy="49032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6825" y="7873529"/>
            <a:ext cx="6753731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Develop → Source Control → Build → Test và quay lại.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178105" y="3654549"/>
            <a:ext cx="9157395" cy="3736553"/>
          </a:xfrm>
          <a:prstGeom prst="rect">
            <a:avLst/>
          </a:prstGeom>
          <a:solidFill>
            <a:srgbClr val="FFFFFF"/>
          </a:solidFill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2430" y="3968874"/>
            <a:ext cx="8528745" cy="26012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92430" y="6722492"/>
            <a:ext cx="9381619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5D5D6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CI dừng ở Integration Tests; CD lo Review, Staging, Production.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spc="420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MODULE 04 · VÍ DỤ CỤ THỂ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42070"/>
            <a:ext cx="18021300" cy="912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239"/>
              </a:lnSpc>
              <a:buNone/>
            </a:pPr>
            <a:r>
              <a:rPr lang="en-US" sz="6150" b="1" spc="-92" kern="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Pipeline đầu tiên cho dự án Node.js</a:t>
            </a:r>
            <a:endParaRPr lang="en-US" sz="6150" dirty="0"/>
          </a:p>
        </p:txBody>
      </p:sp>
      <p:sp>
        <p:nvSpPr>
          <p:cNvPr id="4" name="Shape 2"/>
          <p:cNvSpPr/>
          <p:nvPr/>
        </p:nvSpPr>
        <p:spPr>
          <a:xfrm>
            <a:off x="952500" y="2659707"/>
            <a:ext cx="8847609" cy="8721477"/>
          </a:xfrm>
          <a:prstGeom prst="rect">
            <a:avLst/>
          </a:prstGeom>
          <a:ln w="9525">
            <a:solidFill>
              <a:srgbClr val="2C455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2025" y="2669232"/>
            <a:ext cx="8828559" cy="747713"/>
          </a:xfrm>
          <a:prstGeom prst="rect">
            <a:avLst/>
          </a:prstGeom>
          <a:solidFill>
            <a:srgbClr val="2C455D"/>
          </a:solidFill>
          <a:ln/>
        </p:spPr>
      </p:sp>
      <p:sp>
        <p:nvSpPr>
          <p:cNvPr id="6" name="Text 4"/>
          <p:cNvSpPr/>
          <p:nvPr/>
        </p:nvSpPr>
        <p:spPr>
          <a:xfrm>
            <a:off x="1190625" y="2821632"/>
            <a:ext cx="8636216" cy="481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spc="225" kern="0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.github/workflows/ci.yml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62025" y="3416945"/>
            <a:ext cx="8828559" cy="7954714"/>
          </a:xfrm>
          <a:prstGeom prst="rect">
            <a:avLst/>
          </a:prstGeom>
          <a:solidFill>
            <a:srgbClr val="1D2D3D"/>
          </a:solidFill>
          <a:ln/>
        </p:spPr>
      </p:sp>
      <p:sp>
        <p:nvSpPr>
          <p:cNvPr id="8" name="Text 6"/>
          <p:cNvSpPr/>
          <p:nvPr/>
        </p:nvSpPr>
        <p:spPr>
          <a:xfrm>
            <a:off x="1247775" y="3702695"/>
            <a:ext cx="8521916" cy="74213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0299"/>
              </a:lnSpc>
              <a:buNone/>
            </a:pPr>
            <a:r>
              <a:rPr lang="en-US" sz="1950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CI</a:t>
            </a:r>
            <a:endParaRPr lang="en-US" sz="1950" dirty="0"/>
          </a:p>
          <a:p>
            <a:pPr algn="l" indent="0" marL="0">
              <a:lnSpc>
                <a:spcPct val="120299"/>
              </a:lnSpc>
              <a:buNone/>
            </a:pPr>
            <a:r>
              <a:rPr lang="en-US" sz="1950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1950" dirty="0"/>
          </a:p>
          <a:p>
            <a:pPr algn="l" indent="0" marL="0">
              <a:lnSpc>
                <a:spcPct val="120299"/>
              </a:lnSpc>
              <a:buNone/>
            </a:pPr>
            <a:r>
              <a:rPr lang="en-US" sz="1950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push:</a:t>
            </a:r>
            <a:endParaRPr lang="en-US" sz="1950" dirty="0"/>
          </a:p>
          <a:p>
            <a:pPr algn="l" indent="0" marL="0">
              <a:lnSpc>
                <a:spcPct val="120299"/>
              </a:lnSpc>
              <a:buNone/>
            </a:pPr>
            <a:r>
              <a:rPr lang="en-US" sz="1950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 main ]</a:t>
            </a:r>
            <a:endParaRPr lang="en-US" sz="1950" dirty="0"/>
          </a:p>
          <a:p>
            <a:pPr algn="l" indent="0" marL="0">
              <a:lnSpc>
                <a:spcPct val="120299"/>
              </a:lnSpc>
              <a:buNone/>
            </a:pPr>
            <a:r>
              <a:rPr lang="en-US" sz="1950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pull_request:</a:t>
            </a:r>
            <a:endParaRPr lang="en-US" sz="1950" dirty="0"/>
          </a:p>
          <a:p>
            <a:pPr algn="l" indent="0" marL="0">
              <a:lnSpc>
                <a:spcPct val="120299"/>
              </a:lnSpc>
              <a:buNone/>
            </a:pPr>
            <a:endParaRPr lang="en-US" sz="1950" dirty="0"/>
          </a:p>
          <a:p>
            <a:pPr algn="l" indent="0" marL="0">
              <a:lnSpc>
                <a:spcPct val="120299"/>
              </a:lnSpc>
              <a:buNone/>
            </a:pPr>
            <a:r>
              <a:rPr lang="en-US" sz="1950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950" dirty="0"/>
          </a:p>
          <a:p>
            <a:pPr algn="l" indent="0" marL="0">
              <a:lnSpc>
                <a:spcPct val="120299"/>
              </a:lnSpc>
              <a:buNone/>
            </a:pPr>
            <a:r>
              <a:rPr lang="en-US" sz="1950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build-and-test:</a:t>
            </a:r>
            <a:endParaRPr lang="en-US" sz="1950" dirty="0"/>
          </a:p>
          <a:p>
            <a:pPr algn="l" indent="0" marL="0">
              <a:lnSpc>
                <a:spcPct val="120299"/>
              </a:lnSpc>
              <a:buNone/>
            </a:pPr>
            <a:r>
              <a:rPr lang="en-US" sz="1950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950" dirty="0"/>
          </a:p>
          <a:p>
            <a:pPr algn="l" indent="0" marL="0">
              <a:lnSpc>
                <a:spcPct val="120299"/>
              </a:lnSpc>
              <a:buNone/>
            </a:pPr>
            <a:r>
              <a:rPr lang="en-US" sz="1950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950" dirty="0"/>
          </a:p>
          <a:p>
            <a:pPr algn="l" indent="0" marL="0">
              <a:lnSpc>
                <a:spcPct val="120299"/>
              </a:lnSpc>
              <a:buNone/>
            </a:pPr>
            <a:r>
              <a:rPr lang="en-US" sz="1950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1950" dirty="0"/>
          </a:p>
          <a:p>
            <a:pPr algn="l" indent="0" marL="0">
              <a:lnSpc>
                <a:spcPct val="120299"/>
              </a:lnSpc>
              <a:buNone/>
            </a:pPr>
            <a:r>
              <a:rPr lang="en-US" sz="1950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actions/setup-node@v4</a:t>
            </a:r>
            <a:endParaRPr lang="en-US" sz="1950" dirty="0"/>
          </a:p>
          <a:p>
            <a:pPr algn="l" indent="0" marL="0">
              <a:lnSpc>
                <a:spcPct val="120299"/>
              </a:lnSpc>
              <a:buNone/>
            </a:pPr>
            <a:r>
              <a:rPr lang="en-US" sz="1950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1950" dirty="0"/>
          </a:p>
          <a:p>
            <a:pPr algn="l" indent="0" marL="0">
              <a:lnSpc>
                <a:spcPct val="120299"/>
              </a:lnSpc>
              <a:buNone/>
            </a:pPr>
            <a:r>
              <a:rPr lang="en-US" sz="1950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node-version: '20'</a:t>
            </a:r>
            <a:endParaRPr lang="en-US" sz="1950" dirty="0"/>
          </a:p>
          <a:p>
            <a:pPr algn="l" indent="0" marL="0">
              <a:lnSpc>
                <a:spcPct val="120299"/>
              </a:lnSpc>
              <a:buNone/>
            </a:pPr>
            <a:r>
              <a:rPr lang="en-US" sz="1950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cache: 'npm'</a:t>
            </a:r>
            <a:endParaRPr lang="en-US" sz="1950" dirty="0"/>
          </a:p>
          <a:p>
            <a:pPr algn="l" indent="0" marL="0">
              <a:lnSpc>
                <a:spcPct val="120299"/>
              </a:lnSpc>
              <a:buNone/>
            </a:pPr>
            <a:r>
              <a:rPr lang="en-US" sz="1950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npm ci</a:t>
            </a:r>
            <a:endParaRPr lang="en-US" sz="1950" dirty="0"/>
          </a:p>
          <a:p>
            <a:pPr algn="l" indent="0" marL="0">
              <a:lnSpc>
                <a:spcPct val="120299"/>
              </a:lnSpc>
              <a:buNone/>
            </a:pPr>
            <a:r>
              <a:rPr lang="en-US" sz="1950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npm run lint</a:t>
            </a:r>
            <a:endParaRPr lang="en-US" sz="1950" dirty="0"/>
          </a:p>
          <a:p>
            <a:pPr algn="l" indent="0" marL="0">
              <a:lnSpc>
                <a:spcPct val="120299"/>
              </a:lnSpc>
              <a:buNone/>
            </a:pPr>
            <a:r>
              <a:rPr lang="en-US" sz="1950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npm test</a:t>
            </a:r>
            <a:endParaRPr lang="en-US" sz="1950" dirty="0"/>
          </a:p>
          <a:p>
            <a:pPr algn="l" indent="0" marL="0">
              <a:lnSpc>
                <a:spcPct val="120299"/>
              </a:lnSpc>
              <a:buNone/>
            </a:pPr>
            <a:r>
              <a:rPr lang="en-US" sz="1950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npm run build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257309" y="2659707"/>
            <a:ext cx="7078117" cy="4727228"/>
          </a:xfrm>
          <a:prstGeom prst="rect">
            <a:avLst/>
          </a:prstGeom>
          <a:solidFill>
            <a:srgbClr val="FFFFFF"/>
          </a:solidFill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47834" y="3050232"/>
            <a:ext cx="6926773" cy="717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636"/>
              </a:lnSpc>
              <a:buNone/>
            </a:pPr>
            <a:r>
              <a:rPr lang="en-US" sz="345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Đọc file này thế nào?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10647834" y="3976985"/>
            <a:ext cx="6485979" cy="871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2175" b="1" dirty="0">
                <a:solidFill>
                  <a:srgbClr val="4161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on: </a:t>
            </a:r>
            <a:pPr algn="l" indent="0" marL="0">
              <a:lnSpc>
                <a:spcPct val="124286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khi nào chạy — push vào main hoặc mở Pull Request.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10647834" y="4981873"/>
            <a:ext cx="692677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2175" b="1" dirty="0">
                <a:solidFill>
                  <a:srgbClr val="4161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jobs: </a:t>
            </a:r>
            <a:pPr algn="l" indent="0" marL="0">
              <a:lnSpc>
                <a:spcPct val="124286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các công việc, chạy song song với nhau.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10647834" y="5572423"/>
            <a:ext cx="692677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2175" b="1" dirty="0">
                <a:solidFill>
                  <a:srgbClr val="4161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runs-on: </a:t>
            </a:r>
            <a:pPr algn="l" indent="0" marL="0">
              <a:lnSpc>
                <a:spcPct val="124286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máy ảo sạch, xoá sau khi chạy xong.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10647834" y="6162973"/>
            <a:ext cx="6485979" cy="871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2175" b="1" dirty="0">
                <a:solidFill>
                  <a:srgbClr val="4161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steps: </a:t>
            </a:r>
            <a:pPr algn="l" indent="0" marL="0">
              <a:lnSpc>
                <a:spcPct val="124286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các bước tuần tự — một bước hỏng là cả job báo đỏ.</a:t>
            </a:r>
            <a:endParaRPr lang="en-US" sz="21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12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239"/>
              </a:lnSpc>
              <a:buNone/>
            </a:pPr>
            <a:r>
              <a:rPr lang="en-US" sz="6150" b="1" spc="-92" kern="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Sau khi push, bảng điều khiển CI báo gì?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952500" y="2017737"/>
            <a:ext cx="16383000" cy="28575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579712"/>
            <a:ext cx="16383000" cy="3970809"/>
          </a:xfrm>
          <a:prstGeom prst="rect">
            <a:avLst/>
          </a:prstGeom>
          <a:solidFill>
            <a:srgbClr val="FFFFFF"/>
          </a:solidFill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2025" y="3536007"/>
            <a:ext cx="16363950" cy="9525"/>
          </a:xfrm>
          <a:prstGeom prst="rect">
            <a:avLst/>
          </a:prstGeom>
          <a:solidFill>
            <a:srgbClr val="D4D4D7"/>
          </a:solidFill>
          <a:ln/>
        </p:spPr>
      </p:sp>
      <p:sp>
        <p:nvSpPr>
          <p:cNvPr id="6" name="Text 4"/>
          <p:cNvSpPr/>
          <p:nvPr/>
        </p:nvSpPr>
        <p:spPr>
          <a:xfrm>
            <a:off x="1304925" y="2855937"/>
            <a:ext cx="8977171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556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#182 · fix: validate email khi đăng ký · nguyenvana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525699" y="2855937"/>
            <a:ext cx="2703113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spc="252" kern="0" dirty="0">
                <a:solidFill>
                  <a:srgbClr val="5D5D6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TỔNG 3 PHÚT 41 GIÂY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225230" y="3545532"/>
            <a:ext cx="9525" cy="1622078"/>
          </a:xfrm>
          <a:prstGeom prst="rect">
            <a:avLst/>
          </a:prstGeom>
          <a:solidFill>
            <a:srgbClr val="D4D4D7"/>
          </a:solidFill>
          <a:ln/>
        </p:spPr>
      </p:sp>
      <p:sp>
        <p:nvSpPr>
          <p:cNvPr id="9" name="Text 7"/>
          <p:cNvSpPr/>
          <p:nvPr/>
        </p:nvSpPr>
        <p:spPr>
          <a:xfrm>
            <a:off x="1247775" y="3869382"/>
            <a:ext cx="296087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300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✓ checkout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247775" y="4459932"/>
            <a:ext cx="2960876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 giây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7498035" y="3545532"/>
            <a:ext cx="9525" cy="1622078"/>
          </a:xfrm>
          <a:prstGeom prst="rect">
            <a:avLst/>
          </a:prstGeom>
          <a:solidFill>
            <a:srgbClr val="D4D4D7"/>
          </a:solidFill>
          <a:ln/>
        </p:spPr>
      </p:sp>
      <p:sp>
        <p:nvSpPr>
          <p:cNvPr id="12" name="Text 10"/>
          <p:cNvSpPr/>
          <p:nvPr/>
        </p:nvSpPr>
        <p:spPr>
          <a:xfrm>
            <a:off x="4520505" y="3869382"/>
            <a:ext cx="296095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300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✓ npm ci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20505" y="4459932"/>
            <a:ext cx="2960958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48 giây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770840" y="3545532"/>
            <a:ext cx="9525" cy="1622078"/>
          </a:xfrm>
          <a:prstGeom prst="rect">
            <a:avLst/>
          </a:prstGeom>
          <a:solidFill>
            <a:srgbClr val="D4D4D7"/>
          </a:solidFill>
          <a:ln/>
        </p:spPr>
      </p:sp>
      <p:sp>
        <p:nvSpPr>
          <p:cNvPr id="15" name="Text 13"/>
          <p:cNvSpPr/>
          <p:nvPr/>
        </p:nvSpPr>
        <p:spPr>
          <a:xfrm>
            <a:off x="7793310" y="3869382"/>
            <a:ext cx="296095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300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✓ lint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793310" y="4459932"/>
            <a:ext cx="2960958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11 giây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0780365" y="3545532"/>
            <a:ext cx="3272805" cy="1622078"/>
          </a:xfrm>
          <a:prstGeom prst="rect">
            <a:avLst/>
          </a:prstGeom>
          <a:solidFill>
            <a:srgbClr val="1D2D3D"/>
          </a:solidFill>
          <a:ln/>
        </p:spPr>
      </p:sp>
      <p:sp>
        <p:nvSpPr>
          <p:cNvPr id="18" name="Shape 16"/>
          <p:cNvSpPr/>
          <p:nvPr/>
        </p:nvSpPr>
        <p:spPr>
          <a:xfrm>
            <a:off x="14043645" y="3545532"/>
            <a:ext cx="9525" cy="1622078"/>
          </a:xfrm>
          <a:prstGeom prst="rect">
            <a:avLst/>
          </a:prstGeom>
          <a:solidFill>
            <a:srgbClr val="D4D4D7"/>
          </a:solidFill>
          <a:ln/>
        </p:spPr>
      </p:sp>
      <p:sp>
        <p:nvSpPr>
          <p:cNvPr id="19" name="Text 17"/>
          <p:cNvSpPr/>
          <p:nvPr/>
        </p:nvSpPr>
        <p:spPr>
          <a:xfrm>
            <a:off x="11066115" y="3869382"/>
            <a:ext cx="296095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✕ test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1066115" y="4459932"/>
            <a:ext cx="2960958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B5D9F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 test thất bại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4338920" y="3869382"/>
            <a:ext cx="297143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3000" dirty="0">
                <a:solidFill>
                  <a:srgbClr val="1D1F20">
                    <a:alpha val="45000"/>
                  </a:srgbClr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– build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4338920" y="4459932"/>
            <a:ext cx="297143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5D5D60">
                    <a:alpha val="45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bị bỏ qua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62025" y="5167610"/>
            <a:ext cx="16363950" cy="1373386"/>
          </a:xfrm>
          <a:prstGeom prst="rect">
            <a:avLst/>
          </a:prstGeom>
          <a:solidFill>
            <a:srgbClr val="F5F5F8"/>
          </a:solidFill>
          <a:ln/>
        </p:spPr>
      </p:sp>
      <p:sp>
        <p:nvSpPr>
          <p:cNvPr id="24" name="Shape 22"/>
          <p:cNvSpPr/>
          <p:nvPr/>
        </p:nvSpPr>
        <p:spPr>
          <a:xfrm>
            <a:off x="962025" y="5167610"/>
            <a:ext cx="16363950" cy="9525"/>
          </a:xfrm>
          <a:prstGeom prst="rect">
            <a:avLst/>
          </a:prstGeom>
          <a:solidFill>
            <a:srgbClr val="D4D4D7"/>
          </a:solidFill>
          <a:ln/>
        </p:spPr>
      </p:sp>
      <p:sp>
        <p:nvSpPr>
          <p:cNvPr id="25" name="Text 23"/>
          <p:cNvSpPr/>
          <p:nvPr/>
        </p:nvSpPr>
        <p:spPr>
          <a:xfrm>
            <a:off x="1304925" y="5462885"/>
            <a:ext cx="16169068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79"/>
              </a:lnSpc>
              <a:buNone/>
            </a:pPr>
            <a:r>
              <a:rPr lang="en-US" sz="1950" dirty="0">
                <a:solidFill>
                  <a:srgbClr val="424244"/>
                </a:solidFill>
                <a:highlight>
                  <a:srgbClr val="F5F5F8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FAIL tests/user.test.js › should reject invalid email Expected: false — Received: true (line 27)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52500" y="6893421"/>
            <a:ext cx="180213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Biết chính xác commit nào, test nào, dòng nào hỏng — chỉ ba phút sau khi push.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634728"/>
            <a:ext cx="9335765" cy="7017544"/>
          </a:xfrm>
          <a:prstGeom prst="rect">
            <a:avLst/>
          </a:prstGeom>
          <a:ln w="9525">
            <a:solidFill>
              <a:srgbClr val="2C45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2025" y="1644253"/>
            <a:ext cx="9316715" cy="747713"/>
          </a:xfrm>
          <a:prstGeom prst="rect">
            <a:avLst/>
          </a:prstGeom>
          <a:solidFill>
            <a:srgbClr val="2C455D"/>
          </a:solidFill>
          <a:ln/>
        </p:spPr>
      </p:sp>
      <p:sp>
        <p:nvSpPr>
          <p:cNvPr id="4" name="Text 2"/>
          <p:cNvSpPr/>
          <p:nvPr/>
        </p:nvSpPr>
        <p:spPr>
          <a:xfrm>
            <a:off x="1190625" y="1796653"/>
            <a:ext cx="9139016" cy="481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spc="225" kern="0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Jenkinsfile — bài thực hành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62025" y="2391966"/>
            <a:ext cx="9316715" cy="6250781"/>
          </a:xfrm>
          <a:prstGeom prst="rect">
            <a:avLst/>
          </a:prstGeom>
          <a:solidFill>
            <a:srgbClr val="1D2D3D"/>
          </a:solidFill>
          <a:ln/>
        </p:spPr>
      </p:sp>
      <p:sp>
        <p:nvSpPr>
          <p:cNvPr id="6" name="Text 4"/>
          <p:cNvSpPr/>
          <p:nvPr/>
        </p:nvSpPr>
        <p:spPr>
          <a:xfrm>
            <a:off x="1247775" y="2677716"/>
            <a:ext cx="9024716" cy="571738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9231"/>
              </a:lnSpc>
              <a:buNone/>
            </a:pPr>
            <a:r>
              <a:rPr lang="en-US" sz="1875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{</a:t>
            </a:r>
            <a:endParaRPr lang="en-US" sz="1875" dirty="0"/>
          </a:p>
          <a:p>
            <a:pPr algn="l" indent="0" marL="0">
              <a:lnSpc>
                <a:spcPct val="119231"/>
              </a:lnSpc>
              <a:buNone/>
            </a:pPr>
            <a:r>
              <a:rPr lang="en-US" sz="1875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agent any</a:t>
            </a:r>
            <a:endParaRPr lang="en-US" sz="1875" dirty="0"/>
          </a:p>
          <a:p>
            <a:pPr algn="l" indent="0" marL="0">
              <a:lnSpc>
                <a:spcPct val="119231"/>
              </a:lnSpc>
              <a:buNone/>
            </a:pPr>
            <a:r>
              <a:rPr lang="en-US" sz="1875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stages {</a:t>
            </a:r>
            <a:endParaRPr lang="en-US" sz="1875" dirty="0"/>
          </a:p>
          <a:p>
            <a:pPr algn="l" indent="0" marL="0">
              <a:lnSpc>
                <a:spcPct val="119231"/>
              </a:lnSpc>
              <a:buNone/>
            </a:pPr>
            <a:r>
              <a:rPr lang="en-US" sz="1875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stage('Checkout') { steps { checkout scm } }</a:t>
            </a:r>
            <a:endParaRPr lang="en-US" sz="1875" dirty="0"/>
          </a:p>
          <a:p>
            <a:pPr algn="l" indent="0" marL="0">
              <a:lnSpc>
                <a:spcPct val="119231"/>
              </a:lnSpc>
              <a:buNone/>
            </a:pPr>
            <a:r>
              <a:rPr lang="en-US" sz="1875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stage('Build')    { steps { sh 'mvn -B clean package' } }</a:t>
            </a:r>
            <a:endParaRPr lang="en-US" sz="1875" dirty="0"/>
          </a:p>
          <a:p>
            <a:pPr algn="l" indent="0" marL="0">
              <a:lnSpc>
                <a:spcPct val="119231"/>
              </a:lnSpc>
              <a:buNone/>
            </a:pPr>
            <a:r>
              <a:rPr lang="en-US" sz="1875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stage('Test')     { steps { sh 'mvn test' } }</a:t>
            </a:r>
            <a:endParaRPr lang="en-US" sz="1875" dirty="0"/>
          </a:p>
          <a:p>
            <a:pPr algn="l" indent="0" marL="0">
              <a:lnSpc>
                <a:spcPct val="119231"/>
              </a:lnSpc>
              <a:buNone/>
            </a:pPr>
            <a:r>
              <a:rPr lang="en-US" sz="1875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stage('Archive')  {</a:t>
            </a:r>
            <a:endParaRPr lang="en-US" sz="1875" dirty="0"/>
          </a:p>
          <a:p>
            <a:pPr algn="l" indent="0" marL="0">
              <a:lnSpc>
                <a:spcPct val="119231"/>
              </a:lnSpc>
              <a:buNone/>
            </a:pPr>
            <a:r>
              <a:rPr lang="en-US" sz="1875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steps { archiveArtifacts artifacts: 'target/*.jar' }</a:t>
            </a:r>
            <a:endParaRPr lang="en-US" sz="1875" dirty="0"/>
          </a:p>
          <a:p>
            <a:pPr algn="l" indent="0" marL="0">
              <a:lnSpc>
                <a:spcPct val="119231"/>
              </a:lnSpc>
              <a:buNone/>
            </a:pPr>
            <a:r>
              <a:rPr lang="en-US" sz="1875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875" dirty="0"/>
          </a:p>
          <a:p>
            <a:pPr algn="l" indent="0" marL="0">
              <a:lnSpc>
                <a:spcPct val="119231"/>
              </a:lnSpc>
              <a:buNone/>
            </a:pPr>
            <a:r>
              <a:rPr lang="en-US" sz="1875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875" dirty="0"/>
          </a:p>
          <a:p>
            <a:pPr algn="l" indent="0" marL="0">
              <a:lnSpc>
                <a:spcPct val="119231"/>
              </a:lnSpc>
              <a:buNone/>
            </a:pPr>
            <a:r>
              <a:rPr lang="en-US" sz="1875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 {</a:t>
            </a:r>
            <a:endParaRPr lang="en-US" sz="1875" dirty="0"/>
          </a:p>
          <a:p>
            <a:pPr algn="l" indent="0" marL="0">
              <a:lnSpc>
                <a:spcPct val="119231"/>
              </a:lnSpc>
              <a:buNone/>
            </a:pPr>
            <a:r>
              <a:rPr lang="en-US" sz="1875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success { echo 'Build xanh - co the merge' }</a:t>
            </a:r>
            <a:endParaRPr lang="en-US" sz="1875" dirty="0"/>
          </a:p>
          <a:p>
            <a:pPr algn="l" indent="0" marL="0">
              <a:lnSpc>
                <a:spcPct val="119231"/>
              </a:lnSpc>
              <a:buNone/>
            </a:pPr>
            <a:r>
              <a:rPr lang="en-US" sz="1875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failure { echo 'Build do - bao Slack ngay' }</a:t>
            </a:r>
            <a:endParaRPr lang="en-US" sz="1875" dirty="0"/>
          </a:p>
          <a:p>
            <a:pPr algn="l" indent="0" marL="0">
              <a:lnSpc>
                <a:spcPct val="119231"/>
              </a:lnSpc>
              <a:buNone/>
            </a:pPr>
            <a:r>
              <a:rPr lang="en-US" sz="1875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875" dirty="0"/>
          </a:p>
          <a:p>
            <a:pPr algn="l" indent="0" marL="0">
              <a:lnSpc>
                <a:spcPct val="119231"/>
              </a:lnSpc>
              <a:buNone/>
            </a:pPr>
            <a:r>
              <a:rPr lang="en-US" sz="1875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0821665" y="2282949"/>
            <a:ext cx="6709250" cy="1574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225"/>
              </a:lnSpc>
              <a:buNone/>
            </a:pPr>
            <a:r>
              <a:rPr lang="en-US" sz="5400" b="1" spc="-81" kern="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Cùng một tư duy, khác cú pháp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0821665" y="4123804"/>
            <a:ext cx="6709250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GitHub Actions dùng YAML và máy ảo do GitHub cấp.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821665" y="5297165"/>
            <a:ext cx="6709250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Jenkins dùng Groovy trên máy chủ bạn tự dựng — linh hoạt hơn nhưng phải tự bảo trì.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821665" y="6584826"/>
            <a:ext cx="6513835" cy="1419225"/>
          </a:xfrm>
          <a:prstGeom prst="rect">
            <a:avLst/>
          </a:prstGeom>
          <a:solidFill>
            <a:srgbClr val="EEF6FF"/>
          </a:solidFill>
          <a:ln w="9525">
            <a:solidFill>
              <a:srgbClr val="94BC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040" y="6880101"/>
            <a:ext cx="6022498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2250" dirty="0">
                <a:solidFill>
                  <a:srgbClr val="1D2D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Mọi công cụ đều xoay quanh: </a:t>
            </a:r>
            <a:pPr algn="l" indent="0" marL="0">
              <a:lnSpc>
                <a:spcPct val="120833"/>
              </a:lnSpc>
              <a:buNone/>
            </a:pPr>
            <a:r>
              <a:rPr lang="en-US" sz="2250" b="1" dirty="0">
                <a:solidFill>
                  <a:srgbClr val="1D2D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trigger → job → step → artifact </a:t>
            </a:r>
            <a:pPr algn="l" indent="0" marL="0">
              <a:lnSpc>
                <a:spcPct val="120833"/>
              </a:lnSpc>
              <a:buNone/>
            </a:pPr>
            <a:r>
              <a:rPr lang="en-US" sz="2250" dirty="0">
                <a:solidFill>
                  <a:srgbClr val="1D2D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spc="420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MODULE 05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42070"/>
            <a:ext cx="18021300" cy="912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239"/>
              </a:lnSpc>
              <a:buNone/>
            </a:pPr>
            <a:r>
              <a:rPr lang="en-US" sz="6150" b="1" spc="-92" kern="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Lợi ích của CI</a:t>
            </a:r>
            <a:endParaRPr lang="en-US" sz="6150" dirty="0"/>
          </a:p>
        </p:txBody>
      </p:sp>
      <p:sp>
        <p:nvSpPr>
          <p:cNvPr id="4" name="Shape 2"/>
          <p:cNvSpPr/>
          <p:nvPr/>
        </p:nvSpPr>
        <p:spPr>
          <a:xfrm>
            <a:off x="952500" y="2507307"/>
            <a:ext cx="16383000" cy="28575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3031182"/>
            <a:ext cx="836159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75"/>
              </a:lnSpc>
              <a:buNone/>
            </a:pPr>
            <a:r>
              <a:rPr lang="en-US" sz="3000" b="1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Phát hiện lỗi sớm </a:t>
            </a:r>
            <a:pPr algn="l" indent="0" marL="0">
              <a:lnSpc>
                <a:spcPct val="124675"/>
              </a:lnSpc>
              <a:buNone/>
            </a:pPr>
            <a:r>
              <a:rPr lang="en-US" sz="2400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Sửa lúc vừa viết rẻ hơn rất nhiều so với khi đã lên production.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2500" y="4307532"/>
            <a:ext cx="836159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75"/>
              </a:lnSpc>
              <a:buNone/>
            </a:pPr>
            <a:r>
              <a:rPr lang="en-US" sz="3000" b="1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Chất lượng mã ổn định </a:t>
            </a:r>
            <a:pPr algn="l" indent="0" marL="0">
              <a:lnSpc>
                <a:spcPct val="124675"/>
              </a:lnSpc>
              <a:buNone/>
            </a:pPr>
            <a:r>
              <a:rPr lang="en-US" sz="2400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Nhánh main luôn ở trạng thái chạy được.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52500" y="5583882"/>
            <a:ext cx="836159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75"/>
              </a:lnSpc>
              <a:buNone/>
            </a:pPr>
            <a:r>
              <a:rPr lang="en-US" sz="3000" b="1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Tăng tốc độ phát triển </a:t>
            </a:r>
            <a:pPr algn="l" indent="0" marL="0">
              <a:lnSpc>
                <a:spcPct val="124675"/>
              </a:lnSpc>
              <a:buNone/>
            </a:pPr>
            <a:r>
              <a:rPr lang="en-US" sz="2400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Bỏ phần lớn kiểm tra thủ công lặp lại.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" y="6860232"/>
            <a:ext cx="836159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75"/>
              </a:lnSpc>
              <a:buNone/>
            </a:pPr>
            <a:r>
              <a:rPr lang="en-US" sz="3000" b="1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Hợp nhất mã dễ dàng </a:t>
            </a:r>
            <a:pPr algn="l" indent="0" marL="0">
              <a:lnSpc>
                <a:spcPct val="124675"/>
              </a:lnSpc>
              <a:buNone/>
            </a:pPr>
            <a:r>
              <a:rPr lang="en-US" sz="2400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Commit nhỏ, gần như không còn conflict lớn.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52500" y="8136582"/>
            <a:ext cx="836159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75"/>
              </a:lnSpc>
              <a:buNone/>
            </a:pPr>
            <a:r>
              <a:rPr lang="en-US" sz="3000" b="1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Tự động hoá quy trình </a:t>
            </a:r>
            <a:pPr algn="l" indent="0" marL="0">
              <a:lnSpc>
                <a:spcPct val="124675"/>
              </a:lnSpc>
              <a:buNone/>
            </a:pPr>
            <a:r>
              <a:rPr lang="en-US" sz="2400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Máy không quên bước nào và không mệt lúc 2 giờ sáng.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603953" y="3031182"/>
            <a:ext cx="7731547" cy="4629969"/>
          </a:xfrm>
          <a:prstGeom prst="rect">
            <a:avLst/>
          </a:prstGeom>
          <a:solidFill>
            <a:srgbClr val="FFFFFF"/>
          </a:solidFill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32578" y="3459807"/>
            <a:ext cx="7561726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679"/>
              </a:lnSpc>
              <a:buNone/>
            </a:pPr>
            <a:r>
              <a:rPr lang="en-US" sz="330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Chi phí sửa một lỗi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10032578" y="4185568"/>
            <a:ext cx="7561726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Minh hoạ tương đối — càng ra xa bàn phím càng đắt.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032578" y="4950396"/>
            <a:ext cx="25146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Khi viết code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509078" y="4985593"/>
            <a:ext cx="351755" cy="342900"/>
          </a:xfrm>
          <a:prstGeom prst="rect">
            <a:avLst/>
          </a:prstGeom>
          <a:solidFill>
            <a:srgbClr val="B5D9FD"/>
          </a:solidFill>
          <a:ln/>
        </p:spPr>
      </p:sp>
      <p:sp>
        <p:nvSpPr>
          <p:cNvPr id="15" name="Text 13"/>
          <p:cNvSpPr/>
          <p:nvPr/>
        </p:nvSpPr>
        <p:spPr>
          <a:xfrm>
            <a:off x="10032578" y="5573316"/>
            <a:ext cx="25146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Ở bước CI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2509078" y="5608513"/>
            <a:ext cx="791542" cy="342900"/>
          </a:xfrm>
          <a:prstGeom prst="rect">
            <a:avLst/>
          </a:prstGeom>
          <a:solidFill>
            <a:srgbClr val="94BCE3"/>
          </a:solidFill>
          <a:ln/>
        </p:spPr>
      </p:sp>
      <p:sp>
        <p:nvSpPr>
          <p:cNvPr id="17" name="Text 15"/>
          <p:cNvSpPr/>
          <p:nvPr/>
        </p:nvSpPr>
        <p:spPr>
          <a:xfrm>
            <a:off x="10032578" y="6196236"/>
            <a:ext cx="25146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Khi QA test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2509078" y="6231434"/>
            <a:ext cx="1847031" cy="342900"/>
          </a:xfrm>
          <a:prstGeom prst="rect">
            <a:avLst/>
          </a:prstGeom>
          <a:solidFill>
            <a:srgbClr val="597EA3"/>
          </a:solidFill>
          <a:ln/>
        </p:spPr>
      </p:sp>
      <p:sp>
        <p:nvSpPr>
          <p:cNvPr id="19" name="Text 17"/>
          <p:cNvSpPr/>
          <p:nvPr/>
        </p:nvSpPr>
        <p:spPr>
          <a:xfrm>
            <a:off x="10032578" y="6819156"/>
            <a:ext cx="25146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Trên production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2509078" y="6854354"/>
            <a:ext cx="4397797" cy="342900"/>
          </a:xfrm>
          <a:prstGeom prst="rect">
            <a:avLst/>
          </a:prstGeom>
          <a:solidFill>
            <a:srgbClr val="1D2D3D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spc="420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MODULE 06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42070"/>
            <a:ext cx="18021300" cy="912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239"/>
              </a:lnSpc>
              <a:buNone/>
            </a:pPr>
            <a:r>
              <a:rPr lang="en-US" sz="6150" b="1" spc="-92" kern="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Công cụ CI phổ biến</a:t>
            </a:r>
            <a:endParaRPr lang="en-US" sz="6150" dirty="0"/>
          </a:p>
        </p:txBody>
      </p:sp>
      <p:sp>
        <p:nvSpPr>
          <p:cNvPr id="4" name="Shape 2"/>
          <p:cNvSpPr/>
          <p:nvPr/>
        </p:nvSpPr>
        <p:spPr>
          <a:xfrm>
            <a:off x="952500" y="2507307"/>
            <a:ext cx="16383000" cy="28575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3522613"/>
            <a:ext cx="272668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17270" y="3019752"/>
            <a:ext cx="2678940" cy="47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b="1" spc="180" kern="0" dirty="0">
                <a:solidFill>
                  <a:srgbClr val="1C2020">
                    <a:alpha val="60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CÔNG CỤ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3679180" y="3522613"/>
            <a:ext cx="1722834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743950" y="3019752"/>
            <a:ext cx="1669494" cy="47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b="1" spc="180" kern="0" dirty="0">
                <a:solidFill>
                  <a:srgbClr val="1C2020">
                    <a:alpha val="60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KIỂU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5402014" y="3522613"/>
            <a:ext cx="6651129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66784" y="3019752"/>
            <a:ext cx="6721123" cy="47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b="1" spc="180" kern="0" dirty="0">
                <a:solidFill>
                  <a:srgbClr val="1C2020">
                    <a:alpha val="60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ĐIỂM MẠNH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2053143" y="3522613"/>
            <a:ext cx="5282357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2117913" y="3019752"/>
            <a:ext cx="5311287" cy="47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b="1" spc="180" kern="0" dirty="0">
                <a:solidFill>
                  <a:srgbClr val="1C2020">
                    <a:alpha val="60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LƯU Ý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52500" y="4089722"/>
            <a:ext cx="272668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17270" y="3596908"/>
            <a:ext cx="2678940" cy="466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b="1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Jenkins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3679180" y="4089722"/>
            <a:ext cx="1722834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743950" y="3596908"/>
            <a:ext cx="1669494" cy="466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Tự cài</a:t>
            </a:r>
            <a:endParaRPr lang="en-US" sz="2175" dirty="0"/>
          </a:p>
        </p:txBody>
      </p:sp>
      <p:sp>
        <p:nvSpPr>
          <p:cNvPr id="17" name="Shape 15"/>
          <p:cNvSpPr/>
          <p:nvPr/>
        </p:nvSpPr>
        <p:spPr>
          <a:xfrm>
            <a:off x="5402014" y="4089722"/>
            <a:ext cx="6651129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66784" y="3596908"/>
            <a:ext cx="6721123" cy="466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Rất linh hoạt, kho plugin khổng lồ</a:t>
            </a:r>
            <a:endParaRPr lang="en-US" sz="2175" dirty="0"/>
          </a:p>
        </p:txBody>
      </p:sp>
      <p:sp>
        <p:nvSpPr>
          <p:cNvPr id="19" name="Shape 17"/>
          <p:cNvSpPr/>
          <p:nvPr/>
        </p:nvSpPr>
        <p:spPr>
          <a:xfrm>
            <a:off x="12053143" y="4089722"/>
            <a:ext cx="5282357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2117913" y="3596908"/>
            <a:ext cx="5311287" cy="466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Phải tự dựng và bảo trì máy chủ</a:t>
            </a:r>
            <a:endParaRPr lang="en-US" sz="2175" dirty="0"/>
          </a:p>
        </p:txBody>
      </p:sp>
      <p:sp>
        <p:nvSpPr>
          <p:cNvPr id="21" name="Shape 19"/>
          <p:cNvSpPr/>
          <p:nvPr/>
        </p:nvSpPr>
        <p:spPr>
          <a:xfrm>
            <a:off x="952500" y="4656832"/>
            <a:ext cx="272668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17270" y="4164017"/>
            <a:ext cx="2678940" cy="466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b="1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GitHub Actions</a:t>
            </a:r>
            <a:endParaRPr lang="en-US" sz="2175" dirty="0"/>
          </a:p>
        </p:txBody>
      </p:sp>
      <p:sp>
        <p:nvSpPr>
          <p:cNvPr id="23" name="Shape 21"/>
          <p:cNvSpPr/>
          <p:nvPr/>
        </p:nvSpPr>
        <p:spPr>
          <a:xfrm>
            <a:off x="3679180" y="4656832"/>
            <a:ext cx="1722834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743950" y="4164017"/>
            <a:ext cx="1669494" cy="466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Đám mây</a:t>
            </a:r>
            <a:endParaRPr lang="en-US" sz="2175" dirty="0"/>
          </a:p>
        </p:txBody>
      </p:sp>
      <p:sp>
        <p:nvSpPr>
          <p:cNvPr id="25" name="Shape 23"/>
          <p:cNvSpPr/>
          <p:nvPr/>
        </p:nvSpPr>
        <p:spPr>
          <a:xfrm>
            <a:off x="5402014" y="4656832"/>
            <a:ext cx="6651129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466784" y="4164017"/>
            <a:ext cx="6721123" cy="466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Nằm sẵn trong GitHub, marketplace lớn</a:t>
            </a:r>
            <a:endParaRPr lang="en-US" sz="2175" dirty="0"/>
          </a:p>
        </p:txBody>
      </p:sp>
      <p:sp>
        <p:nvSpPr>
          <p:cNvPr id="27" name="Shape 25"/>
          <p:cNvSpPr/>
          <p:nvPr/>
        </p:nvSpPr>
        <p:spPr>
          <a:xfrm>
            <a:off x="12053143" y="4656832"/>
            <a:ext cx="5282357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2117913" y="4164017"/>
            <a:ext cx="5311287" cy="466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Nên bắt đầu ở đây</a:t>
            </a:r>
            <a:endParaRPr lang="en-US" sz="2175" dirty="0"/>
          </a:p>
        </p:txBody>
      </p:sp>
      <p:sp>
        <p:nvSpPr>
          <p:cNvPr id="29" name="Shape 27"/>
          <p:cNvSpPr/>
          <p:nvPr/>
        </p:nvSpPr>
        <p:spPr>
          <a:xfrm>
            <a:off x="952500" y="5223942"/>
            <a:ext cx="272668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017270" y="4731127"/>
            <a:ext cx="2678940" cy="466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b="1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GitLab CI/CD</a:t>
            </a:r>
            <a:endParaRPr lang="en-US" sz="2175" dirty="0"/>
          </a:p>
        </p:txBody>
      </p:sp>
      <p:sp>
        <p:nvSpPr>
          <p:cNvPr id="31" name="Shape 29"/>
          <p:cNvSpPr/>
          <p:nvPr/>
        </p:nvSpPr>
        <p:spPr>
          <a:xfrm>
            <a:off x="3679180" y="5223942"/>
            <a:ext cx="1722834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743950" y="4731127"/>
            <a:ext cx="1669494" cy="466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Cả hai</a:t>
            </a:r>
            <a:endParaRPr lang="en-US" sz="2175" dirty="0"/>
          </a:p>
        </p:txBody>
      </p:sp>
      <p:sp>
        <p:nvSpPr>
          <p:cNvPr id="33" name="Shape 31"/>
          <p:cNvSpPr/>
          <p:nvPr/>
        </p:nvSpPr>
        <p:spPr>
          <a:xfrm>
            <a:off x="5402014" y="5223942"/>
            <a:ext cx="6651129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466784" y="4731127"/>
            <a:ext cx="6721123" cy="466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Một nền tảng trọn gói, runner tự host</a:t>
            </a:r>
            <a:endParaRPr lang="en-US" sz="2175" dirty="0"/>
          </a:p>
        </p:txBody>
      </p:sp>
      <p:sp>
        <p:nvSpPr>
          <p:cNvPr id="35" name="Shape 33"/>
          <p:cNvSpPr/>
          <p:nvPr/>
        </p:nvSpPr>
        <p:spPr>
          <a:xfrm>
            <a:off x="12053143" y="5223942"/>
            <a:ext cx="5282357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2117913" y="4731127"/>
            <a:ext cx="5311287" cy="466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Cú pháp .gitlab-ci.yml riêng</a:t>
            </a:r>
            <a:endParaRPr lang="en-US" sz="2175" dirty="0"/>
          </a:p>
        </p:txBody>
      </p:sp>
      <p:sp>
        <p:nvSpPr>
          <p:cNvPr id="37" name="Shape 35"/>
          <p:cNvSpPr/>
          <p:nvPr/>
        </p:nvSpPr>
        <p:spPr>
          <a:xfrm>
            <a:off x="952500" y="5791051"/>
            <a:ext cx="272668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017270" y="5298237"/>
            <a:ext cx="2678940" cy="466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b="1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CircleCI</a:t>
            </a:r>
            <a:endParaRPr lang="en-US" sz="2175" dirty="0"/>
          </a:p>
        </p:txBody>
      </p:sp>
      <p:sp>
        <p:nvSpPr>
          <p:cNvPr id="39" name="Shape 37"/>
          <p:cNvSpPr/>
          <p:nvPr/>
        </p:nvSpPr>
        <p:spPr>
          <a:xfrm>
            <a:off x="3679180" y="5791051"/>
            <a:ext cx="1722834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3743950" y="5298237"/>
            <a:ext cx="1669494" cy="466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Đám mây</a:t>
            </a:r>
            <a:endParaRPr lang="en-US" sz="2175" dirty="0"/>
          </a:p>
        </p:txBody>
      </p:sp>
      <p:sp>
        <p:nvSpPr>
          <p:cNvPr id="41" name="Shape 39"/>
          <p:cNvSpPr/>
          <p:nvPr/>
        </p:nvSpPr>
        <p:spPr>
          <a:xfrm>
            <a:off x="5402014" y="5791051"/>
            <a:ext cx="6651129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466784" y="5298237"/>
            <a:ext cx="6721123" cy="466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Mở rộng nhanh, chạy song song tốt</a:t>
            </a:r>
            <a:endParaRPr lang="en-US" sz="2175" dirty="0"/>
          </a:p>
        </p:txBody>
      </p:sp>
      <p:sp>
        <p:nvSpPr>
          <p:cNvPr id="43" name="Shape 41"/>
          <p:cNvSpPr/>
          <p:nvPr/>
        </p:nvSpPr>
        <p:spPr>
          <a:xfrm>
            <a:off x="12053143" y="5791051"/>
            <a:ext cx="5282357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2117913" y="5298237"/>
            <a:ext cx="5311287" cy="466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Giới hạn phút ở gói miễn phí</a:t>
            </a:r>
            <a:endParaRPr lang="en-US" sz="2175" dirty="0"/>
          </a:p>
        </p:txBody>
      </p:sp>
      <p:sp>
        <p:nvSpPr>
          <p:cNvPr id="45" name="Shape 43"/>
          <p:cNvSpPr/>
          <p:nvPr/>
        </p:nvSpPr>
        <p:spPr>
          <a:xfrm>
            <a:off x="952500" y="6358161"/>
            <a:ext cx="272668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017270" y="5865346"/>
            <a:ext cx="2678940" cy="466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b="1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Travis CI</a:t>
            </a:r>
            <a:endParaRPr lang="en-US" sz="2175" dirty="0"/>
          </a:p>
        </p:txBody>
      </p:sp>
      <p:sp>
        <p:nvSpPr>
          <p:cNvPr id="47" name="Shape 45"/>
          <p:cNvSpPr/>
          <p:nvPr/>
        </p:nvSpPr>
        <p:spPr>
          <a:xfrm>
            <a:off x="3679180" y="6358161"/>
            <a:ext cx="1722834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3743950" y="5865346"/>
            <a:ext cx="1669494" cy="466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Đám mây</a:t>
            </a:r>
            <a:endParaRPr lang="en-US" sz="2175" dirty="0"/>
          </a:p>
        </p:txBody>
      </p:sp>
      <p:sp>
        <p:nvSpPr>
          <p:cNvPr id="49" name="Shape 47"/>
          <p:cNvSpPr/>
          <p:nvPr/>
        </p:nvSpPr>
        <p:spPr>
          <a:xfrm>
            <a:off x="5402014" y="6358161"/>
            <a:ext cx="6651129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5466784" y="5865346"/>
            <a:ext cx="6721123" cy="466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Cấu hình đơn giản, gắn với GitHub</a:t>
            </a:r>
            <a:endParaRPr lang="en-US" sz="2175" dirty="0"/>
          </a:p>
        </p:txBody>
      </p:sp>
      <p:sp>
        <p:nvSpPr>
          <p:cNvPr id="51" name="Shape 49"/>
          <p:cNvSpPr/>
          <p:nvPr/>
        </p:nvSpPr>
        <p:spPr>
          <a:xfrm>
            <a:off x="12053143" y="6358161"/>
            <a:ext cx="5282357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2117913" y="5865346"/>
            <a:ext cx="5311287" cy="466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Ít phổ biến hơn trước</a:t>
            </a:r>
            <a:endParaRPr lang="en-US" sz="2175" dirty="0"/>
          </a:p>
        </p:txBody>
      </p:sp>
      <p:sp>
        <p:nvSpPr>
          <p:cNvPr id="53" name="Shape 51"/>
          <p:cNvSpPr/>
          <p:nvPr/>
        </p:nvSpPr>
        <p:spPr>
          <a:xfrm>
            <a:off x="952500" y="6925270"/>
            <a:ext cx="272668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017270" y="6432456"/>
            <a:ext cx="2678940" cy="466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b="1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Bamboo</a:t>
            </a:r>
            <a:endParaRPr lang="en-US" sz="2175" dirty="0"/>
          </a:p>
        </p:txBody>
      </p:sp>
      <p:sp>
        <p:nvSpPr>
          <p:cNvPr id="55" name="Shape 53"/>
          <p:cNvSpPr/>
          <p:nvPr/>
        </p:nvSpPr>
        <p:spPr>
          <a:xfrm>
            <a:off x="3679180" y="6925270"/>
            <a:ext cx="1722834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3743950" y="6432456"/>
            <a:ext cx="1669494" cy="466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Tự cài</a:t>
            </a:r>
            <a:endParaRPr lang="en-US" sz="2175" dirty="0"/>
          </a:p>
        </p:txBody>
      </p:sp>
      <p:sp>
        <p:nvSpPr>
          <p:cNvPr id="57" name="Shape 55"/>
          <p:cNvSpPr/>
          <p:nvPr/>
        </p:nvSpPr>
        <p:spPr>
          <a:xfrm>
            <a:off x="5402014" y="6925270"/>
            <a:ext cx="6651129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5466784" y="6432456"/>
            <a:ext cx="6721123" cy="466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Gắn chặt với Jira và Bitbucket</a:t>
            </a:r>
            <a:endParaRPr lang="en-US" sz="2175" dirty="0"/>
          </a:p>
        </p:txBody>
      </p:sp>
      <p:sp>
        <p:nvSpPr>
          <p:cNvPr id="59" name="Shape 57"/>
          <p:cNvSpPr/>
          <p:nvPr/>
        </p:nvSpPr>
        <p:spPr>
          <a:xfrm>
            <a:off x="12053143" y="6925270"/>
            <a:ext cx="5282357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12117913" y="6432456"/>
            <a:ext cx="5311287" cy="466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Trả phí, hợp doanh nghiệp</a:t>
            </a:r>
            <a:endParaRPr lang="en-US" sz="21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spc="420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MODULE 07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42070"/>
            <a:ext cx="18021300" cy="912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239"/>
              </a:lnSpc>
              <a:buNone/>
            </a:pPr>
            <a:r>
              <a:rPr lang="en-US" sz="6150" b="1" spc="-92" kern="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Thực hành tốt</a:t>
            </a:r>
            <a:endParaRPr lang="en-US" sz="6150" dirty="0"/>
          </a:p>
        </p:txBody>
      </p:sp>
      <p:sp>
        <p:nvSpPr>
          <p:cNvPr id="4" name="Shape 2"/>
          <p:cNvSpPr/>
          <p:nvPr/>
        </p:nvSpPr>
        <p:spPr>
          <a:xfrm>
            <a:off x="952500" y="2507307"/>
            <a:ext cx="16383000" cy="28575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3031182"/>
            <a:ext cx="4530700" cy="1691060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7775" y="3326457"/>
            <a:ext cx="4334165" cy="599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451"/>
              </a:lnSpc>
              <a:buNone/>
            </a:pPr>
            <a:r>
              <a:rPr lang="en-US" sz="285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01 · Commit nhỏ, thường xuyên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247775" y="4028405"/>
            <a:ext cx="4334165" cy="43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69"/>
              </a:lnSpc>
              <a:buNone/>
            </a:pPr>
            <a:r>
              <a:rPr lang="en-US" sz="2025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Ít nhất một lần mỗi ngày.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711800" y="3031182"/>
            <a:ext cx="4530700" cy="1691060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07075" y="3326457"/>
            <a:ext cx="4334165" cy="599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451"/>
              </a:lnSpc>
              <a:buNone/>
            </a:pPr>
            <a:r>
              <a:rPr lang="en-US" sz="285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02 · Luôn chạy test khi build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6007075" y="4028405"/>
            <a:ext cx="4334165" cy="43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69"/>
              </a:lnSpc>
              <a:buNone/>
            </a:pPr>
            <a:r>
              <a:rPr lang="en-US" sz="2025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 không test chỉ là biên dịch.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52500" y="4950842"/>
            <a:ext cx="4530700" cy="2089621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47775" y="5246117"/>
            <a:ext cx="4334165" cy="599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451"/>
              </a:lnSpc>
              <a:buNone/>
            </a:pPr>
            <a:r>
              <a:rPr lang="en-US" sz="285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03 · Giữ pipeline dưới 10 phút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247775" y="5948065"/>
            <a:ext cx="4058355" cy="835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69"/>
              </a:lnSpc>
              <a:buNone/>
            </a:pPr>
            <a:r>
              <a:rPr lang="en-US" sz="2025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Cache, chạy song song, test phần thay đổi.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5711800" y="4950842"/>
            <a:ext cx="4530700" cy="2089621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7075" y="5246117"/>
            <a:ext cx="4334165" cy="599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451"/>
              </a:lnSpc>
              <a:buNone/>
            </a:pPr>
            <a:r>
              <a:rPr lang="en-US" sz="285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04 · Chạy nhiều môi trường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6007075" y="5948065"/>
            <a:ext cx="4334165" cy="43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69"/>
              </a:lnSpc>
              <a:buNone/>
            </a:pPr>
            <a:r>
              <a:rPr lang="en-US" sz="2025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dev, staging, production.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52500" y="7269063"/>
            <a:ext cx="9290000" cy="1691060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47775" y="7564338"/>
            <a:ext cx="9569395" cy="599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451"/>
              </a:lnSpc>
              <a:buNone/>
            </a:pPr>
            <a:r>
              <a:rPr lang="en-US" sz="285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05 · Theo dõi và báo cáo kết quả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247775" y="8266286"/>
            <a:ext cx="9569395" cy="43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69"/>
              </a:lnSpc>
              <a:buNone/>
            </a:pPr>
            <a:r>
              <a:rPr lang="en-US" sz="2025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Thông báo về Slack hoặc Teams; build đỏ là việc phải sửa trước tiên.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0699700" y="3031182"/>
            <a:ext cx="6635725" cy="5928940"/>
          </a:xfrm>
          <a:prstGeom prst="rect">
            <a:avLst/>
          </a:prstGeom>
          <a:solidFill>
            <a:srgbClr val="1D2D3D"/>
          </a:solidFill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90225" y="3421707"/>
            <a:ext cx="6440143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spc="360" kern="0" dirty="0">
                <a:solidFill>
                  <a:srgbClr val="94BCE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NÊN TRÁNH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1090225" y="4112270"/>
            <a:ext cx="603031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2250" dirty="0">
                <a:solidFill>
                  <a:srgbClr val="E6EEF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Để build đỏ qua đêm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1090225" y="4750445"/>
            <a:ext cx="603031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2250" dirty="0">
                <a:solidFill>
                  <a:srgbClr val="E6EEF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Tắt test cho pipeline chạy nhanh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1090225" y="5388620"/>
            <a:ext cx="603031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2250" dirty="0">
                <a:solidFill>
                  <a:srgbClr val="E6EEF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Ghi mật khẩu thẳng vào file YAML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1090225" y="6026795"/>
            <a:ext cx="603031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2250" dirty="0">
                <a:solidFill>
                  <a:srgbClr val="E6EEF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Nhánh sống hơn ba ngày mới merge</a:t>
            </a:r>
            <a:endParaRPr lang="en-US" sz="2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spc="420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MODULE 08 · NÂNG CAO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42070"/>
            <a:ext cx="18021300" cy="912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239"/>
              </a:lnSpc>
              <a:buNone/>
            </a:pPr>
            <a:r>
              <a:rPr lang="en-US" sz="6150" b="1" spc="-92" kern="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CI trong doanh nghiệp năm 2026</a:t>
            </a:r>
            <a:endParaRPr lang="en-US" sz="6150" dirty="0"/>
          </a:p>
        </p:txBody>
      </p:sp>
      <p:sp>
        <p:nvSpPr>
          <p:cNvPr id="4" name="Shape 2"/>
          <p:cNvSpPr/>
          <p:nvPr/>
        </p:nvSpPr>
        <p:spPr>
          <a:xfrm>
            <a:off x="952500" y="2507307"/>
            <a:ext cx="16383000" cy="28575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993082"/>
            <a:ext cx="5283175" cy="2736354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5875" y="3326457"/>
            <a:ext cx="5078068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273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BẢO MẬT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85875" y="3851225"/>
            <a:ext cx="5078068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911"/>
              </a:lnSpc>
              <a:buNone/>
            </a:pPr>
            <a:r>
              <a:rPr lang="en-US" sz="315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Chuỗi cung ứng phần mềm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285875" y="4650284"/>
            <a:ext cx="4754918" cy="78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62"/>
              </a:lnSpc>
              <a:buNone/>
            </a:pPr>
            <a:r>
              <a:rPr lang="en-US" sz="2025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Sinh SBOM, ký artifact, ghi provenance, xác thực bằng OIDC thay token dài hạn.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6502375" y="2993082"/>
            <a:ext cx="5283175" cy="2736354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35750" y="3326457"/>
            <a:ext cx="5078068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273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TỐC ĐỘ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835750" y="3851225"/>
            <a:ext cx="5078068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911"/>
              </a:lnSpc>
              <a:buNone/>
            </a:pPr>
            <a:r>
              <a:rPr lang="en-US" sz="315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Chỉ build phần ảnh hưởng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6835750" y="4650284"/>
            <a:ext cx="4754918" cy="78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62"/>
              </a:lnSpc>
              <a:buNone/>
            </a:pPr>
            <a:r>
              <a:rPr lang="en-US" sz="2025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Monorepo với Nx, Turborepo hoặc Bazel: 40 phút xuống còn vài phút.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2052250" y="2993082"/>
            <a:ext cx="5283250" cy="2736354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85625" y="3326457"/>
            <a:ext cx="507815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273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HẠ TẦNG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385625" y="3851225"/>
            <a:ext cx="507815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911"/>
              </a:lnSpc>
              <a:buNone/>
            </a:pPr>
            <a:r>
              <a:rPr lang="en-US" sz="315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Runner dùng một lần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12385625" y="4650284"/>
            <a:ext cx="4754995" cy="78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62"/>
              </a:lnSpc>
              <a:buNone/>
            </a:pPr>
            <a:r>
              <a:rPr lang="en-US" sz="2025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Mỗi job chạy trên container sạch rồi bị xoá — hết cảnh “máy CI bẩn”.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52500" y="5996136"/>
            <a:ext cx="5283175" cy="3109243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5875" y="6329511"/>
            <a:ext cx="5078068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273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ĐO LƯỜNG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85875" y="6854279"/>
            <a:ext cx="5078068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911"/>
              </a:lnSpc>
              <a:buNone/>
            </a:pPr>
            <a:r>
              <a:rPr lang="en-US" sz="315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Chỉ số DORA</a:t>
            </a:r>
            <a:endParaRPr lang="en-US" sz="3150" dirty="0"/>
          </a:p>
        </p:txBody>
      </p:sp>
      <p:sp>
        <p:nvSpPr>
          <p:cNvPr id="20" name="Text 18"/>
          <p:cNvSpPr/>
          <p:nvPr/>
        </p:nvSpPr>
        <p:spPr>
          <a:xfrm>
            <a:off x="1285875" y="7653337"/>
            <a:ext cx="4754918" cy="78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62"/>
              </a:lnSpc>
              <a:buNone/>
            </a:pPr>
            <a:r>
              <a:rPr lang="en-US" sz="2025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Tần suất triển khai, thời gian đến production, tỉ lệ lỗi, thời gian khôi phục.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6502375" y="5996136"/>
            <a:ext cx="5283175" cy="3109243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5750" y="6329511"/>
            <a:ext cx="5078068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273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AI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6835750" y="6854279"/>
            <a:ext cx="5078068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911"/>
              </a:lnSpc>
              <a:buNone/>
            </a:pPr>
            <a:r>
              <a:rPr lang="en-US" sz="315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AI ngay trong pipeline</a:t>
            </a:r>
            <a:endParaRPr lang="en-US" sz="3150" dirty="0"/>
          </a:p>
        </p:txBody>
      </p:sp>
      <p:sp>
        <p:nvSpPr>
          <p:cNvPr id="24" name="Text 22"/>
          <p:cNvSpPr/>
          <p:nvPr/>
        </p:nvSpPr>
        <p:spPr>
          <a:xfrm>
            <a:off x="6835750" y="7653337"/>
            <a:ext cx="4754918" cy="115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62"/>
              </a:lnSpc>
              <a:buNone/>
            </a:pPr>
            <a:r>
              <a:rPr lang="en-US" sz="2025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Bot review PR, sinh test thiếu, phát hiện flaky test, tóm tắt log. Người vẫn duyệt cuối.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12052250" y="5996136"/>
            <a:ext cx="5283250" cy="3109243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385625" y="6329511"/>
            <a:ext cx="507815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273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VẬN HÀNH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2385625" y="6854279"/>
            <a:ext cx="507815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911"/>
              </a:lnSpc>
              <a:buNone/>
            </a:pPr>
            <a:r>
              <a:rPr lang="en-US" sz="315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Template dùng chung</a:t>
            </a:r>
            <a:endParaRPr lang="en-US" sz="3150" dirty="0"/>
          </a:p>
        </p:txBody>
      </p:sp>
      <p:sp>
        <p:nvSpPr>
          <p:cNvPr id="28" name="Text 26"/>
          <p:cNvSpPr/>
          <p:nvPr/>
        </p:nvSpPr>
        <p:spPr>
          <a:xfrm>
            <a:off x="12385625" y="7653337"/>
            <a:ext cx="4754995" cy="78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62"/>
              </a:lnSpc>
              <a:buNone/>
            </a:pPr>
            <a:r>
              <a:rPr lang="en-US" sz="2025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Đội nền tảng cấp sẵn pipeline mẫu và theo dõi chi phí phút chạy.</a:t>
            </a:r>
            <a:endParaRPr lang="en-US" sz="20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spc="420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MODULE 09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42070"/>
            <a:ext cx="18021300" cy="912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239"/>
              </a:lnSpc>
              <a:buNone/>
            </a:pPr>
            <a:r>
              <a:rPr lang="en-US" sz="6150" b="1" spc="-92" kern="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Dùng AI để gỡ lỗi CI</a:t>
            </a:r>
            <a:endParaRPr lang="en-US" sz="6150" dirty="0"/>
          </a:p>
        </p:txBody>
      </p:sp>
      <p:sp>
        <p:nvSpPr>
          <p:cNvPr id="4" name="Shape 2"/>
          <p:cNvSpPr/>
          <p:nvPr/>
        </p:nvSpPr>
        <p:spPr>
          <a:xfrm>
            <a:off x="952500" y="2964507"/>
            <a:ext cx="3924300" cy="2492573"/>
          </a:xfrm>
          <a:prstGeom prst="rect">
            <a:avLst/>
          </a:prstGeom>
          <a:solidFill>
            <a:srgbClr val="FFFFFF"/>
          </a:solidFill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47775" y="3259782"/>
            <a:ext cx="366712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12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BƯỚC 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47775" y="3700760"/>
            <a:ext cx="3667125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911"/>
              </a:lnSpc>
              <a:buNone/>
            </a:pPr>
            <a:r>
              <a:rPr lang="en-US" sz="315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Thu thập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247775" y="4416028"/>
            <a:ext cx="3433763" cy="78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62"/>
              </a:lnSpc>
              <a:buNone/>
            </a:pPr>
            <a:r>
              <a:rPr lang="en-US" sz="2025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Lấy 30–50 dòng log quanh chỗ lỗi.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105400" y="2964507"/>
            <a:ext cx="3924300" cy="2492573"/>
          </a:xfrm>
          <a:prstGeom prst="rect">
            <a:avLst/>
          </a:prstGeom>
          <a:solidFill>
            <a:srgbClr val="FFFFFF"/>
          </a:solidFill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00675" y="3259782"/>
            <a:ext cx="366712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12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BƯỚC 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400675" y="3700760"/>
            <a:ext cx="3667125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911"/>
              </a:lnSpc>
              <a:buNone/>
            </a:pPr>
            <a:r>
              <a:rPr lang="en-US" sz="315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Che thông tin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5400675" y="4416028"/>
            <a:ext cx="3433763" cy="78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62"/>
              </a:lnSpc>
              <a:buNone/>
            </a:pPr>
            <a:r>
              <a:rPr lang="en-US" sz="2025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Xoá token, mật khẩu, URL nội bộ.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9258300" y="2964507"/>
            <a:ext cx="3924300" cy="2492573"/>
          </a:xfrm>
          <a:prstGeom prst="rect">
            <a:avLst/>
          </a:prstGeom>
          <a:solidFill>
            <a:srgbClr val="FFFFFF"/>
          </a:solidFill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53575" y="3259782"/>
            <a:ext cx="366712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12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BƯỚC 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553575" y="3700760"/>
            <a:ext cx="3667125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911"/>
              </a:lnSpc>
              <a:buNone/>
            </a:pPr>
            <a:r>
              <a:rPr lang="en-US" sz="315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Hỏi có cấu trúc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9553575" y="4416028"/>
            <a:ext cx="3433763" cy="78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62"/>
              </a:lnSpc>
              <a:buNone/>
            </a:pPr>
            <a:r>
              <a:rPr lang="en-US" sz="2025" dirty="0">
                <a:solidFill>
                  <a:srgbClr val="4242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Bối cảnh → Triệu chứng → Log → Yêu cầu.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3411200" y="2964507"/>
            <a:ext cx="3924300" cy="2492573"/>
          </a:xfrm>
          <a:prstGeom prst="rect">
            <a:avLst/>
          </a:prstGeom>
          <a:solidFill>
            <a:srgbClr val="EEF6FF"/>
          </a:solidFill>
          <a:ln w="9525">
            <a:solidFill>
              <a:srgbClr val="749D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06475" y="3259782"/>
            <a:ext cx="366712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12" kern="0" dirty="0">
                <a:solidFill>
                  <a:srgbClr val="2C455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BƯỚC 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3706475" y="3700760"/>
            <a:ext cx="3667125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911"/>
              </a:lnSpc>
              <a:buNone/>
            </a:pPr>
            <a:r>
              <a:rPr lang="en-US" sz="315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Kiểm chứng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13706475" y="4416028"/>
            <a:ext cx="3433763" cy="78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62"/>
              </a:lnSpc>
              <a:buNone/>
            </a:pPr>
            <a:r>
              <a:rPr lang="en-US" sz="2025" dirty="0">
                <a:solidFill>
                  <a:srgbClr val="1D2D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Chạy thử trên nhánh riêng. AI có thể sai.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952500" y="5876181"/>
            <a:ext cx="8518401" cy="4066803"/>
          </a:xfrm>
          <a:prstGeom prst="rect">
            <a:avLst/>
          </a:prstGeom>
          <a:ln w="9525">
            <a:solidFill>
              <a:srgbClr val="2C455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2025" y="5885706"/>
            <a:ext cx="8499351" cy="680070"/>
          </a:xfrm>
          <a:prstGeom prst="rect">
            <a:avLst/>
          </a:prstGeom>
          <a:solidFill>
            <a:srgbClr val="2C455D"/>
          </a:solidFill>
          <a:ln/>
        </p:spPr>
      </p:sp>
      <p:sp>
        <p:nvSpPr>
          <p:cNvPr id="22" name="Text 20"/>
          <p:cNvSpPr/>
          <p:nvPr/>
        </p:nvSpPr>
        <p:spPr>
          <a:xfrm>
            <a:off x="1190625" y="6019056"/>
            <a:ext cx="8297132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spc="210" kern="0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MẪU PROMPT — BUILD THẤT BẠI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62025" y="6565776"/>
            <a:ext cx="8499351" cy="3367683"/>
          </a:xfrm>
          <a:prstGeom prst="rect">
            <a:avLst/>
          </a:prstGeom>
          <a:solidFill>
            <a:srgbClr val="1D2D3D"/>
          </a:solidFill>
          <a:ln/>
        </p:spPr>
      </p:sp>
      <p:sp>
        <p:nvSpPr>
          <p:cNvPr id="24" name="Text 22"/>
          <p:cNvSpPr/>
          <p:nvPr/>
        </p:nvSpPr>
        <p:spPr>
          <a:xfrm>
            <a:off x="1209675" y="6813426"/>
            <a:ext cx="8259032" cy="29104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BỐI CẢNH: GitHub Actions, Node 20, job build-and-test.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TRIỆU CHỨNG: fail ở bước npm ci, local chạy bình thường.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LOG: &lt;30-50 dòng đã che thông tin nhạy cảm&gt;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YÊU CẦU: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1. Ba nguyên nhân khả dĩ nhất, xếp theo xác suất.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2. Mỗi nguyên nhân kèm một lệnh kiểm chứng.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3. Bản vá YAML tối thiểu và giải thích.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7E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RÀNG BUỘC: giữ Node 20, giữ cache npm.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928101" y="5876181"/>
            <a:ext cx="7407325" cy="2505075"/>
          </a:xfrm>
          <a:prstGeom prst="rect">
            <a:avLst/>
          </a:prstGeom>
          <a:solidFill>
            <a:srgbClr val="1D2D3D"/>
          </a:solidFill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61476" y="6209556"/>
            <a:ext cx="7414632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spc="315" kern="0" dirty="0">
                <a:solidFill>
                  <a:srgbClr val="94BCE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NGUYÊN TẮC AN TOÀN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0261476" y="6804868"/>
            <a:ext cx="6942792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2175" dirty="0">
                <a:solidFill>
                  <a:srgbClr val="E6EEF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Không dán secret, token, khoá riêng tư hay chuỗi kết nối database vào công cụ AI công cộng. Không hiểu đoạn code AI đề xuất thì đừng merge.</a:t>
            </a:r>
            <a:endParaRPr lang="en-US" sz="21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12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239"/>
              </a:lnSpc>
              <a:buNone/>
            </a:pPr>
            <a:r>
              <a:rPr lang="en-US" sz="6150" b="1" spc="-92" kern="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Lỗi CI thường gặp và câu hỏi cho AI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952500" y="2017737"/>
            <a:ext cx="16383000" cy="28575"/>
          </a:xfrm>
          <a:prstGeom prst="rect">
            <a:avLst/>
          </a:prstGeom>
          <a:solidFill>
            <a:srgbClr val="1D1F20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3033043"/>
            <a:ext cx="3644726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17270" y="2530182"/>
            <a:ext cx="3624528" cy="47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b="1" spc="180" kern="0" dirty="0">
                <a:solidFill>
                  <a:srgbClr val="1C2020">
                    <a:alpha val="60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LỖI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4597226" y="3033043"/>
            <a:ext cx="4960962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661996" y="2530182"/>
            <a:ext cx="4980251" cy="47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b="1" spc="180" kern="0" dirty="0">
                <a:solidFill>
                  <a:srgbClr val="1C2020">
                    <a:alpha val="60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DẤU HIỆU TRONG LOG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58189" y="3033043"/>
            <a:ext cx="7777311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622959" y="2530182"/>
            <a:ext cx="7881091" cy="47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b="1" spc="180" kern="0" dirty="0">
                <a:solidFill>
                  <a:srgbClr val="1C2020">
                    <a:alpha val="60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CÂU HỎI NÊN ĐƯA CHO AI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3585418"/>
            <a:ext cx="3644726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17270" y="3107338"/>
            <a:ext cx="3624528" cy="45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b="1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Sai phiên bản thư viện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597226" y="3585418"/>
            <a:ext cx="4960962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661996" y="3107338"/>
            <a:ext cx="4980251" cy="45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ERESOLVE / unable to resolve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558189" y="3585418"/>
            <a:ext cx="7777311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622959" y="3107338"/>
            <a:ext cx="7881091" cy="45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 sánh package.json và lock file, chỉ ra xung đột.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52500" y="4137794"/>
            <a:ext cx="3644726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17270" y="3659713"/>
            <a:ext cx="3624528" cy="45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b="1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Thiếu biến môi trường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4597226" y="4137794"/>
            <a:ext cx="4960962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661996" y="3659713"/>
            <a:ext cx="4980251" cy="45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undefined, connection refused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558189" y="4137794"/>
            <a:ext cx="7777311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622959" y="3659713"/>
            <a:ext cx="7881091" cy="45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Liệt kê biến cần có và nơi khai báo an toàn.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52500" y="4690170"/>
            <a:ext cx="3644726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17270" y="4212089"/>
            <a:ext cx="3624528" cy="45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b="1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Sai cú pháp YAML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4597226" y="4690170"/>
            <a:ext cx="4960962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661996" y="4212089"/>
            <a:ext cx="4980251" cy="45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workflow is not valid · line 14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558189" y="4690170"/>
            <a:ext cx="7777311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622959" y="4212089"/>
            <a:ext cx="7881091" cy="45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Chỉ ra lỗi thụt lề và in lại đoạn đã sửa.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52500" y="5242545"/>
            <a:ext cx="3644726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17270" y="4764465"/>
            <a:ext cx="3624528" cy="45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b="1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Hết bộ nhớ khi build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4597226" y="5242545"/>
            <a:ext cx="4960962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661996" y="4764465"/>
            <a:ext cx="4980251" cy="45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heap out of memory · exit 137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9558189" y="5242545"/>
            <a:ext cx="7777311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622959" y="4764465"/>
            <a:ext cx="7881091" cy="45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Đề xuất giới hạn bộ nhớ và chia nhỏ bước build.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52500" y="5794921"/>
            <a:ext cx="3644726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017270" y="5316840"/>
            <a:ext cx="3624528" cy="45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b="1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Không có quyền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4597226" y="5794921"/>
            <a:ext cx="4960962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661996" y="5316840"/>
            <a:ext cx="4980251" cy="45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permission denied · 403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9558189" y="5794921"/>
            <a:ext cx="7777311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9622959" y="5316840"/>
            <a:ext cx="7881091" cy="45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Cần cấp quyền gì theo nguyên tắc tối thiểu?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952500" y="6347296"/>
            <a:ext cx="3644726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017270" y="5869216"/>
            <a:ext cx="3624528" cy="45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b="1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Pipeline quá chậm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4597226" y="6347296"/>
            <a:ext cx="4960962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661996" y="5869216"/>
            <a:ext cx="4980251" cy="45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Cài lại thư viện mỗi lần chạy</a:t>
            </a:r>
            <a:endParaRPr lang="en-US" sz="2100" dirty="0"/>
          </a:p>
        </p:txBody>
      </p:sp>
      <p:sp>
        <p:nvSpPr>
          <p:cNvPr id="44" name="Shape 42"/>
          <p:cNvSpPr/>
          <p:nvPr/>
        </p:nvSpPr>
        <p:spPr>
          <a:xfrm>
            <a:off x="9558189" y="6347296"/>
            <a:ext cx="7777311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9622959" y="5869216"/>
            <a:ext cx="7881091" cy="45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Đề xuất ba cách cache để giảm thời gian.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D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spc="420" kern="0" dirty="0">
                <a:solidFill>
                  <a:srgbClr val="94BCE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MODULE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42070"/>
            <a:ext cx="18021300" cy="912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239"/>
              </a:lnSpc>
              <a:buNone/>
            </a:pPr>
            <a:r>
              <a:rPr lang="en-US" sz="6150" b="1" spc="-92" kern="0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Tóm tắt các khái niệm cốt lõi</a:t>
            </a:r>
            <a:endParaRPr lang="en-US" sz="6150" dirty="0"/>
          </a:p>
        </p:txBody>
      </p:sp>
      <p:sp>
        <p:nvSpPr>
          <p:cNvPr id="4" name="Shape 2"/>
          <p:cNvSpPr/>
          <p:nvPr/>
        </p:nvSpPr>
        <p:spPr>
          <a:xfrm>
            <a:off x="952500" y="2507307"/>
            <a:ext cx="16383000" cy="28575"/>
          </a:xfrm>
          <a:prstGeom prst="rect">
            <a:avLst/>
          </a:prstGeom>
          <a:solidFill>
            <a:srgbClr val="597EA3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3069282"/>
            <a:ext cx="8201787" cy="1013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987"/>
              </a:lnSpc>
              <a:buNone/>
            </a:pPr>
            <a:r>
              <a:rPr lang="en-US" sz="2400" b="1" dirty="0">
                <a:solidFill>
                  <a:srgbClr val="94BCE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 </a:t>
            </a:r>
            <a:pPr algn="l" indent="0" marL="0">
              <a:lnSpc>
                <a:spcPct val="132987"/>
              </a:lnSpc>
              <a:buNone/>
            </a:pPr>
            <a:r>
              <a:rPr lang="en-US" sz="2400" dirty="0">
                <a:solidFill>
                  <a:srgbClr val="E6EEF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· CI là gộp code vào kho chung thường xuyên kèm build và test tự động.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2500" y="4292203"/>
            <a:ext cx="8201787" cy="1013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987"/>
              </a:lnSpc>
              <a:buNone/>
            </a:pPr>
            <a:r>
              <a:rPr lang="en-US" sz="2400" b="1" dirty="0">
                <a:solidFill>
                  <a:srgbClr val="94BCE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02 </a:t>
            </a:r>
            <a:pPr algn="l" indent="0" marL="0">
              <a:lnSpc>
                <a:spcPct val="132987"/>
              </a:lnSpc>
              <a:buNone/>
            </a:pPr>
            <a:r>
              <a:rPr lang="en-US" sz="2400" dirty="0">
                <a:solidFill>
                  <a:srgbClr val="E6EEF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· Mục tiêu: phát hiện lỗi sớm, phần mềm luôn triển khai được.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52500" y="5515124"/>
            <a:ext cx="8201787" cy="1013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987"/>
              </a:lnSpc>
              <a:buNone/>
            </a:pPr>
            <a:r>
              <a:rPr lang="en-US" sz="2400" b="1" dirty="0">
                <a:solidFill>
                  <a:srgbClr val="94BCE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03 </a:t>
            </a:r>
            <a:pPr algn="l" indent="0" marL="0">
              <a:lnSpc>
                <a:spcPct val="132987"/>
              </a:lnSpc>
              <a:buNone/>
            </a:pPr>
            <a:r>
              <a:rPr lang="en-US" sz="2400" dirty="0">
                <a:solidFill>
                  <a:srgbClr val="E6EEF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· Pipeline là dây chuyền; build, test, deploy là các trạm; artifact là kết quả.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" y="6738045"/>
            <a:ext cx="8759190" cy="52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987"/>
              </a:lnSpc>
              <a:buNone/>
            </a:pPr>
            <a:r>
              <a:rPr lang="en-US" sz="2400" b="1" dirty="0">
                <a:solidFill>
                  <a:srgbClr val="94BCE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04 </a:t>
            </a:r>
            <a:pPr algn="l" indent="0" marL="0">
              <a:lnSpc>
                <a:spcPct val="132987"/>
              </a:lnSpc>
              <a:buNone/>
            </a:pPr>
            <a:r>
              <a:rPr lang="en-US" sz="2400" dirty="0">
                <a:solidFill>
                  <a:srgbClr val="E6EEF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· Trigger thường là push hoặc pull request.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372600" y="3069282"/>
            <a:ext cx="8201787" cy="1013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987"/>
              </a:lnSpc>
              <a:buNone/>
            </a:pPr>
            <a:r>
              <a:rPr lang="en-US" sz="2400" b="1" dirty="0">
                <a:solidFill>
                  <a:srgbClr val="94BCE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05 </a:t>
            </a:r>
            <a:pPr algn="l" indent="0" marL="0">
              <a:lnSpc>
                <a:spcPct val="132987"/>
              </a:lnSpc>
              <a:buNone/>
            </a:pPr>
            <a:r>
              <a:rPr lang="en-US" sz="2400" dirty="0">
                <a:solidFill>
                  <a:srgbClr val="E6EEF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· CI dừng ở kiểm thử; đưa lên môi trường thật là việc của CD.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372600" y="4292203"/>
            <a:ext cx="8759190" cy="52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987"/>
              </a:lnSpc>
              <a:buNone/>
            </a:pPr>
            <a:r>
              <a:rPr lang="en-US" sz="2400" b="1" dirty="0">
                <a:solidFill>
                  <a:srgbClr val="94BCE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06 </a:t>
            </a:r>
            <a:pPr algn="l" indent="0" marL="0">
              <a:lnSpc>
                <a:spcPct val="132987"/>
              </a:lnSpc>
              <a:buNone/>
            </a:pPr>
            <a:r>
              <a:rPr lang="en-US" sz="2400" dirty="0">
                <a:solidFill>
                  <a:srgbClr val="E6EEF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· Build đỏ là việc ưu tiên số một của cả nhóm.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372600" y="5027488"/>
            <a:ext cx="8201787" cy="1013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987"/>
              </a:lnSpc>
              <a:buNone/>
            </a:pPr>
            <a:r>
              <a:rPr lang="en-US" sz="2400" b="1" dirty="0">
                <a:solidFill>
                  <a:srgbClr val="94BCE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07 </a:t>
            </a:r>
            <a:pPr algn="l" indent="0" marL="0">
              <a:lnSpc>
                <a:spcPct val="132987"/>
              </a:lnSpc>
              <a:buNone/>
            </a:pPr>
            <a:r>
              <a:rPr lang="en-US" sz="2400" dirty="0">
                <a:solidFill>
                  <a:srgbClr val="E6EEF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· Công cụ khác nhau chỉ khác cú pháp, tư duy thì giống nhau.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372600" y="6250409"/>
            <a:ext cx="8759190" cy="52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987"/>
              </a:lnSpc>
              <a:buNone/>
            </a:pPr>
            <a:r>
              <a:rPr lang="en-US" sz="2400" dirty="0">
                <a:solidFill>
                  <a:srgbClr val="94BCE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Bước tiếp theo: tự tạo repo và bật CI trong 15 phút.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D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835622"/>
            <a:ext cx="18021300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2000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 &amp; A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952500" y="4816822"/>
            <a:ext cx="1905000" cy="38100"/>
          </a:xfrm>
          <a:prstGeom prst="rect">
            <a:avLst/>
          </a:prstGeom>
          <a:solidFill>
            <a:srgbClr val="5980A6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5312122"/>
            <a:ext cx="18021300" cy="569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67"/>
              </a:lnSpc>
              <a:buNone/>
            </a:pPr>
            <a:r>
              <a:rPr lang="en-US" sz="2700" dirty="0">
                <a:solidFill>
                  <a:srgbClr val="E6EEF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Bài tập về nhà: bật CI cho đồ án nhóm và nộp đường dẫn một lần build xanh.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2500" y="6548438"/>
            <a:ext cx="180213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94BCE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Tác giả (Author): </a:t>
            </a:r>
            <a:pPr algn="l" indent="0" marL="0">
              <a:lnSpc>
                <a:spcPct val="129167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Yên Nguyễn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52500" y="7067550"/>
            <a:ext cx="180213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94BCE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Copyright © 2026 Yên Nguyễn — All Rights Reserved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2026-09-19T02:43:26Z</dcterms:created>
  <dcterms:modified xsi:type="dcterms:W3CDTF">2026-09-19T02:43:26Z</dcterms:modified>
</cp:coreProperties>
</file>